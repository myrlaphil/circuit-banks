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ow the circuit bank works" id="{8a529e8e-9910-5f14-6cc7-7a458687f61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E1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1E1E"/>
                </a:solidFill>
                <a:latin typeface="+mn-lt"/>
              </a:rPr>
              <a:t>Distinct series-parallel shapes by number of reduction steps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Distinct shapes (3–6 resistors)</c:v>
                </c:pt>
              </c:strCache>
            </c:strRef>
          </c:tx>
          <c:spPr>
            <a:solidFill>
              <a:srgbClr val="8A2A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E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2A1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2A1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2A1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2A1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A2A1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step</c:v>
                  </c:pt>
                  <c:pt idx="1">
                    <c:v>2 steps</c:v>
                  </c:pt>
                  <c:pt idx="2">
                    <c:v>3 steps</c:v>
                  </c:pt>
                  <c:pt idx="3">
                    <c:v>4 steps</c:v>
                  </c:pt>
                  <c:pt idx="4">
                    <c:v>5 steps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20</c:v>
                </c:pt>
                <c:pt idx="2">
                  <c:v>34</c:v>
                </c:pt>
                <c:pt idx="3">
                  <c:v>30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E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48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3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F48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Zhongzhou Chen's isomorphic-bank method, feed it a domain where the scenario is a circuit topology that a computer can enumerate and verify, and let a deterministic circuit engine do everything numerical. The result: every item has a different solution path, the same difficulty, computed wrong answers, and an answer key that regenerates byte for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word is Chen's. His three criteria give a floor (more than numbers; a different solution) and a ceiling (same difficulty). The use case is a random draw per student for one exam slot, which is only fair inside that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items from the first bank. The lingo line under each figure is the whole source of the item: parse it and you get the figure, the numbers and the worked solution. Three different reduction sequences; three different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a guarantee the student gets, and the right column is where in the code it is enforced. None of them depends on an LLM behaving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distractors.py re-walks the same circuit tree the way a mistaken student would. Each wrong option therefore names a misconception. The 'honest size' decision: a huge distractor is what the mistake gives, and its implausibility is itself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Chen's repository separates tooling from banks. Our output follows his template and folder convention, so a circuit bank sits beside his mechanics banks without translation. The hand-off between creation and use is the bank 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 shows whose work each stage is. The loop and the sidecar are Chen's scripts, unmodified. The proposer and critic are our scripts. The circuit engine is the circuit-diagram-skill. The LLM appears nowhere unless generator: llm is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of items lives in the input file, never in a chat message — one of Chen's rules we kept. The enumerator writes the same JSON an LLM proposer would, so add_lingo.py and the critic run unchanged. Because the enumerator never proposes a duplicate or an invalid circuit, the critic is a safety net here: 30 of 30 kept in one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LLM proposer is used, correctness is unchanged — the critic and the engine do not care who wrote the string — but the set of shapes differs from run to run and completeness is not assured. That mattered once we fixed one difficulty: finding all 30 shapes is a job for enumeration.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counts come from enumerating series-parallel trees with alternating series/parallel nodes. At exactly three steps there are 34 shapes with four to six resistors and exactly 30 with five to six; the bank uses every one of those 30, so the arithmetic load is also held in a narrow band. The first bank mixed 2 to 5 steps — structurally isomorphic, but not fair as a random 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banks are published in Chen's folder convention in the circuit-banks repository with status: ready. The first bank is kept as a contrast: structurally isomorphic, mixed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nearest next step is a QTI exporter, which would make this the only one of the three pieces that produces the Canvas file directly. Varying the unknown is an input-file change plus wording.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How the circuit bank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F4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91840"/>
            <a:ext cx="100584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CE6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How the circuit bank works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918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6EE"/>
                </a:solidFill>
              </a:rPr>
              <a:t>Isomorphic DC-circuit problem banks — what “isomorphic” means, why they are built for fairness to the student, and how the code produces 30 variations with every number computed, not guessed.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CE6EE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C9A66B"/>
                </a:solidFill>
              </a:rPr>
              <a:t>Myrla Phillippe · research group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“isomorphic” means here</a:t>
            </a:r>
            <a:endParaRPr lang="en-US" sz="3200" dirty="0"/>
          </a:p>
        </p:txBody>
      </p:sp>
      <p:sp>
        <p:nvSpPr>
          <p:cNvPr id="3" name="1  More than new numbers card"/>
          <p:cNvSpPr/>
          <p:nvPr/>
        </p:nvSpPr>
        <p:spPr>
          <a:xfrm>
            <a:off x="548640" y="128016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1  More than new numbers"/>
          <p:cNvSpPr txBox="1"/>
          <p:nvPr/>
        </p:nvSpPr>
        <p:spPr>
          <a:xfrm>
            <a:off x="713232" y="1389888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 More than new numbers</a:t>
            </a:r>
            <a:endParaRPr lang="en-US" sz="1500" dirty="0"/>
          </a:p>
        </p:txBody>
      </p:sp>
      <p:sp>
        <p:nvSpPr>
          <p:cNvPr id="5" name="1  More than new numbers text"/>
          <p:cNvSpPr txBox="1"/>
          <p:nvPr/>
        </p:nvSpPr>
        <p:spPr>
          <a:xfrm>
            <a:off x="713232" y="1792224"/>
            <a:ext cx="53400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“Same circuit, new values” is not a variation — students pattern-match the one solution path.</a:t>
            </a:r>
            <a:endParaRPr lang="en-US" sz="1250" dirty="0"/>
          </a:p>
        </p:txBody>
      </p:sp>
      <p:sp>
        <p:nvSpPr>
          <p:cNvPr id="6" name="2  A different solution card"/>
          <p:cNvSpPr/>
          <p:nvPr/>
        </p:nvSpPr>
        <p:spPr>
          <a:xfrm>
            <a:off x="548640" y="265176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2  A different solution"/>
          <p:cNvSpPr txBox="1"/>
          <p:nvPr/>
        </p:nvSpPr>
        <p:spPr>
          <a:xfrm>
            <a:off x="713232" y="2761488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  A different solution</a:t>
            </a:r>
            <a:endParaRPr lang="en-US" sz="1500" dirty="0"/>
          </a:p>
        </p:txBody>
      </p:sp>
      <p:sp>
        <p:nvSpPr>
          <p:cNvPr id="8" name="2  A different solution text"/>
          <p:cNvSpPr txBox="1"/>
          <p:nvPr/>
        </p:nvSpPr>
        <p:spPr>
          <a:xfrm>
            <a:off x="713232" y="3163824"/>
            <a:ext cx="53400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At least one reduction step must differ. Redrawing, reordering or renaming parts changes nothing.</a:t>
            </a:r>
            <a:endParaRPr lang="en-US" sz="1250" dirty="0"/>
          </a:p>
        </p:txBody>
      </p:sp>
      <p:sp>
        <p:nvSpPr>
          <p:cNvPr id="9" name="3  Same objective, same difficulty card"/>
          <p:cNvSpPr/>
          <p:nvPr/>
        </p:nvSpPr>
        <p:spPr>
          <a:xfrm>
            <a:off x="548640" y="402336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3  Same objective, same difficulty"/>
          <p:cNvSpPr txBox="1"/>
          <p:nvPr/>
        </p:nvSpPr>
        <p:spPr>
          <a:xfrm>
            <a:off x="713232" y="4133088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 Same objective, same difficulty</a:t>
            </a:r>
            <a:endParaRPr lang="en-US" sz="1500" dirty="0"/>
          </a:p>
        </p:txBody>
      </p:sp>
      <p:sp>
        <p:nvSpPr>
          <p:cNvPr id="11" name="3  Same objective, same difficulty text"/>
          <p:cNvSpPr txBox="1"/>
          <p:nvPr/>
        </p:nvSpPr>
        <p:spPr>
          <a:xfrm>
            <a:off x="713232" y="4535424"/>
            <a:ext cx="53400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Same question, same number of steps. A 2-step and a 5-step circuit are not isomorphs.</a:t>
            </a:r>
            <a:endParaRPr lang="en-US" sz="1250" dirty="0"/>
          </a:p>
        </p:txBody>
      </p:sp>
      <p:sp>
        <p:nvSpPr>
          <p:cNvPr id="12" name="source quote"/>
          <p:cNvSpPr txBox="1"/>
          <p:nvPr/>
        </p:nvSpPr>
        <p:spPr>
          <a:xfrm>
            <a:off x="548640" y="5440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Chen's repository: problems that test the same learning objectives “with variations that change the solution and not only the numbers”, drawn at random so no two students get the same item.</a:t>
            </a:r>
            <a:endParaRPr lang="en-US" sz="1100" dirty="0"/>
          </a:p>
        </p:txBody>
      </p:sp>
      <p:sp>
        <p:nvSpPr>
          <p:cNvPr id="13" name="band heading"/>
          <p:cNvSpPr txBox="1"/>
          <p:nvPr/>
        </p:nvSpPr>
        <p:spPr>
          <a:xfrm>
            <a:off x="6675120" y="128016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band with a floor and a ceiling</a:t>
            </a:r>
            <a:endParaRPr lang="en-US" sz="1400" dirty="0"/>
          </a:p>
        </p:txBody>
      </p:sp>
      <p:sp>
        <p:nvSpPr>
          <p:cNvPr id="14" name="band 1"/>
          <p:cNvSpPr/>
          <p:nvPr/>
        </p:nvSpPr>
        <p:spPr>
          <a:xfrm>
            <a:off x="6675120" y="173736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and title 1"/>
          <p:cNvSpPr txBox="1"/>
          <p:nvPr/>
        </p:nvSpPr>
        <p:spPr>
          <a:xfrm>
            <a:off x="68580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Below the floor</a:t>
            </a:r>
            <a:endParaRPr lang="en-US" sz="1400" dirty="0"/>
          </a:p>
        </p:txBody>
      </p:sp>
      <p:sp>
        <p:nvSpPr>
          <p:cNvPr id="16" name="band text 1"/>
          <p:cNvSpPr txBox="1"/>
          <p:nvPr/>
        </p:nvSpPr>
        <p:spPr>
          <a:xfrm>
            <a:off x="6858000" y="21762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same circuit, new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everyone has the same problem — the draw is pointless</a:t>
            </a:r>
            <a:endParaRPr lang="en-US" sz="1200" dirty="0"/>
          </a:p>
        </p:txBody>
      </p:sp>
      <p:sp>
        <p:nvSpPr>
          <p:cNvPr id="17" name="band 2"/>
          <p:cNvSpPr/>
          <p:nvPr/>
        </p:nvSpPr>
        <p:spPr>
          <a:xfrm>
            <a:off x="6675120" y="306324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and title 2"/>
          <p:cNvSpPr txBox="1"/>
          <p:nvPr/>
        </p:nvSpPr>
        <p:spPr>
          <a:xfrm>
            <a:off x="68580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 the band</a:t>
            </a:r>
            <a:endParaRPr lang="en-US" sz="1400" dirty="0"/>
          </a:p>
        </p:txBody>
      </p:sp>
      <p:sp>
        <p:nvSpPr>
          <p:cNvPr id="19" name="band text 2"/>
          <p:cNvSpPr txBox="1"/>
          <p:nvPr/>
        </p:nvSpPr>
        <p:spPr>
          <a:xfrm>
            <a:off x="6858000" y="35021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different reduction path, same 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draw is meaningful and fair</a:t>
            </a:r>
            <a:endParaRPr lang="en-US" sz="1200" dirty="0"/>
          </a:p>
        </p:txBody>
      </p:sp>
      <p:sp>
        <p:nvSpPr>
          <p:cNvPr id="20" name="band 3"/>
          <p:cNvSpPr/>
          <p:nvPr/>
        </p:nvSpPr>
        <p:spPr>
          <a:xfrm>
            <a:off x="6675120" y="4389120"/>
            <a:ext cx="4937760" cy="1188720"/>
          </a:xfrm>
          <a:prstGeom prst="roundRect">
            <a:avLst>
              <a:gd name="adj" fmla="val 6154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band title 3"/>
          <p:cNvSpPr txBox="1"/>
          <p:nvPr/>
        </p:nvSpPr>
        <p:spPr>
          <a:xfrm>
            <a:off x="68580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Above the ceiling</a:t>
            </a:r>
            <a:endParaRPr lang="en-US" sz="1400" dirty="0"/>
          </a:p>
        </p:txBody>
      </p:sp>
      <p:sp>
        <p:nvSpPr>
          <p:cNvPr id="22" name="band text 3"/>
          <p:cNvSpPr txBox="1"/>
          <p:nvPr/>
        </p:nvSpPr>
        <p:spPr>
          <a:xfrm>
            <a:off x="6858000" y="48280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different difficulty or objective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student's exam is harder — the draw is unfair</a:t>
            </a:r>
            <a:endParaRPr lang="en-US" sz="1200" dirty="0"/>
          </a:p>
        </p:txBody>
      </p:sp>
      <p:sp>
        <p:nvSpPr>
          <p:cNvPr id="23" name="use case"/>
          <p:cNvSpPr txBox="1"/>
          <p:nvPr/>
        </p:nvSpPr>
        <p:spPr>
          <a:xfrm>
            <a:off x="667512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Use case: each student draws one random item for the same exam slot.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real isomorphs — same question, three reduction paths</a:t>
            </a:r>
            <a:endParaRPr lang="en-US" sz="3200" dirty="0"/>
          </a:p>
        </p:txBody>
      </p:sp>
      <p:sp>
        <p:nvSpPr>
          <p:cNvPr id="3" name="circuit 1 frame"/>
          <p:cNvSpPr/>
          <p:nvPr/>
        </p:nvSpPr>
        <p:spPr>
          <a:xfrm>
            <a:off x="548640" y="13716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4" name="circuit 1" descr="/Users/myrlaphillippe/Downloads/circuit-bank/circuit-banks/PHY II Electricity and Magnetism/1_DC Circuits/PHY2-DC-SPRTC-10222026/figures/q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44752"/>
            <a:ext cx="3419856" cy="2505456"/>
          </a:xfrm>
          <a:prstGeom prst="rect">
            <a:avLst/>
          </a:prstGeom>
        </p:spPr>
      </p:pic>
      <p:sp>
        <p:nvSpPr>
          <p:cNvPr id="5" name="lingo 1"/>
          <p:cNvSpPr txBox="1"/>
          <p:nvPr/>
        </p:nvSpPr>
        <p:spPr>
          <a:xfrm>
            <a:off x="54864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|| 6 + 4</a:t>
            </a:r>
            <a:endParaRPr lang="en-US" sz="1600" dirty="0"/>
          </a:p>
        </p:txBody>
      </p:sp>
      <p:sp>
        <p:nvSpPr>
          <p:cNvPr id="6" name="note 1"/>
          <p:cNvSpPr txBox="1"/>
          <p:nvPr/>
        </p:nvSpPr>
        <p:spPr>
          <a:xfrm>
            <a:off x="54864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parallel pair, then series</a:t>
            </a:r>
            <a:endParaRPr lang="en-US" sz="1250" dirty="0"/>
          </a:p>
        </p:txBody>
      </p:sp>
      <p:sp>
        <p:nvSpPr>
          <p:cNvPr id="7" name="answer 1"/>
          <p:cNvSpPr txBox="1"/>
          <p:nvPr/>
        </p:nvSpPr>
        <p:spPr>
          <a:xfrm>
            <a:off x="54864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12 V → 2.00 A</a:t>
            </a:r>
            <a:endParaRPr lang="en-US" sz="1200" dirty="0"/>
          </a:p>
        </p:txBody>
      </p:sp>
      <p:sp>
        <p:nvSpPr>
          <p:cNvPr id="8" name="circuit 2 frame"/>
          <p:cNvSpPr/>
          <p:nvPr/>
        </p:nvSpPr>
        <p:spPr>
          <a:xfrm>
            <a:off x="4297680" y="13716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9" name="circuit 2" descr="/Users/myrlaphillippe/Downloads/circuit-bank/circuit-banks/PHY II Electricity and Magnetism/1_DC Circuits/PHY2-DC-SPRTC-10222026/figures/q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70832" y="1444752"/>
            <a:ext cx="3419856" cy="2505456"/>
          </a:xfrm>
          <a:prstGeom prst="rect">
            <a:avLst/>
          </a:prstGeom>
        </p:spPr>
      </p:pic>
      <p:sp>
        <p:nvSpPr>
          <p:cNvPr id="10" name="lingo 2"/>
          <p:cNvSpPr txBox="1"/>
          <p:nvPr/>
        </p:nvSpPr>
        <p:spPr>
          <a:xfrm>
            <a:off x="429768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 + 2) || 6 + 3</a:t>
            </a:r>
            <a:endParaRPr lang="en-US" sz="1600" dirty="0"/>
          </a:p>
        </p:txBody>
      </p:sp>
      <p:sp>
        <p:nvSpPr>
          <p:cNvPr id="11" name="note 2"/>
          <p:cNvSpPr txBox="1"/>
          <p:nvPr/>
        </p:nvSpPr>
        <p:spPr>
          <a:xfrm>
            <a:off x="429768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series pair inside a parallel, then series</a:t>
            </a:r>
            <a:endParaRPr lang="en-US" sz="1250" dirty="0"/>
          </a:p>
        </p:txBody>
      </p:sp>
      <p:sp>
        <p:nvSpPr>
          <p:cNvPr id="12" name="answer 2"/>
          <p:cNvSpPr txBox="1"/>
          <p:nvPr/>
        </p:nvSpPr>
        <p:spPr>
          <a:xfrm>
            <a:off x="429768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18 V → 3.00 A</a:t>
            </a:r>
            <a:endParaRPr lang="en-US" sz="1200" dirty="0"/>
          </a:p>
        </p:txBody>
      </p:sp>
      <p:sp>
        <p:nvSpPr>
          <p:cNvPr id="13" name="circuit 3 frame"/>
          <p:cNvSpPr/>
          <p:nvPr/>
        </p:nvSpPr>
        <p:spPr>
          <a:xfrm>
            <a:off x="8046720" y="137160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14" name="circuit 3" descr="/Users/myrlaphillippe/Downloads/circuit-bank/circuit-banks/PHY II Electricity and Magnetism/1_DC Circuits/PHY2-DC-SPRTC-10222026/figures/q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9872" y="1444752"/>
            <a:ext cx="3419856" cy="2505456"/>
          </a:xfrm>
          <a:prstGeom prst="rect">
            <a:avLst/>
          </a:prstGeom>
        </p:spPr>
      </p:pic>
      <p:sp>
        <p:nvSpPr>
          <p:cNvPr id="15" name="lingo 3"/>
          <p:cNvSpPr txBox="1"/>
          <p:nvPr/>
        </p:nvSpPr>
        <p:spPr>
          <a:xfrm>
            <a:off x="804672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|| 3 || 6 + 4</a:t>
            </a:r>
            <a:endParaRPr lang="en-US" sz="1600" dirty="0"/>
          </a:p>
        </p:txBody>
      </p:sp>
      <p:sp>
        <p:nvSpPr>
          <p:cNvPr id="16" name="note 3"/>
          <p:cNvSpPr txBox="1"/>
          <p:nvPr/>
        </p:nvSpPr>
        <p:spPr>
          <a:xfrm>
            <a:off x="804672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three-way parallel, then series</a:t>
            </a:r>
            <a:endParaRPr lang="en-US" sz="1250" dirty="0"/>
          </a:p>
        </p:txBody>
      </p:sp>
      <p:sp>
        <p:nvSpPr>
          <p:cNvPr id="17" name="answer 3"/>
          <p:cNvSpPr txBox="1"/>
          <p:nvPr/>
        </p:nvSpPr>
        <p:spPr>
          <a:xfrm>
            <a:off x="804672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20 V → 4.00 A</a:t>
            </a:r>
            <a:endParaRPr lang="en-US" sz="1200" dirty="0"/>
          </a:p>
        </p:txBody>
      </p:sp>
      <p:sp>
        <p:nvSpPr>
          <p:cNvPr id="18" name="takeaway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a resistor network, an isomorph is a different series-parallel topology — a different sequence of reductions — asked the same way. None of these can be solved by remembering another.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 with the student in mind</a:t>
            </a:r>
            <a:endParaRPr lang="en-US" sz="3200" dirty="0"/>
          </a:p>
        </p:txBody>
      </p:sp>
      <p:sp>
        <p:nvSpPr>
          <p:cNvPr id="3" name="cell 0-0"/>
          <p:cNvSpPr/>
          <p:nvPr/>
        </p:nvSpPr>
        <p:spPr>
          <a:xfrm>
            <a:off x="548640" y="1325880"/>
            <a:ext cx="2377440" cy="603504"/>
          </a:xfrm>
          <a:prstGeom prst="rect">
            <a:avLst/>
          </a:prstGeom>
          <a:solidFill>
            <a:srgbClr val="F3EFEA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" name="cell text 0-0"/>
          <p:cNvSpPr txBox="1"/>
          <p:nvPr/>
        </p:nvSpPr>
        <p:spPr>
          <a:xfrm>
            <a:off x="640080" y="132588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Design choice</a:t>
            </a:r>
            <a:endParaRPr lang="en-US" sz="1150" dirty="0"/>
          </a:p>
        </p:txBody>
      </p:sp>
      <p:sp>
        <p:nvSpPr>
          <p:cNvPr id="5" name="cell 0-1"/>
          <p:cNvSpPr/>
          <p:nvPr/>
        </p:nvSpPr>
        <p:spPr>
          <a:xfrm>
            <a:off x="2926080" y="1325880"/>
            <a:ext cx="4480560" cy="603504"/>
          </a:xfrm>
          <a:prstGeom prst="rect">
            <a:avLst/>
          </a:prstGeom>
          <a:solidFill>
            <a:srgbClr val="F3EFEA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6" name="cell text 0-1"/>
          <p:cNvSpPr txBox="1"/>
          <p:nvPr/>
        </p:nvSpPr>
        <p:spPr>
          <a:xfrm>
            <a:off x="3017520" y="132588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What the student experiences</a:t>
            </a:r>
            <a:endParaRPr lang="en-US" sz="1150" dirty="0"/>
          </a:p>
        </p:txBody>
      </p:sp>
      <p:sp>
        <p:nvSpPr>
          <p:cNvPr id="7" name="cell 0-2"/>
          <p:cNvSpPr/>
          <p:nvPr/>
        </p:nvSpPr>
        <p:spPr>
          <a:xfrm>
            <a:off x="7406640" y="1325880"/>
            <a:ext cx="4206240" cy="603504"/>
          </a:xfrm>
          <a:prstGeom prst="rect">
            <a:avLst/>
          </a:prstGeom>
          <a:solidFill>
            <a:srgbClr val="F3EFEA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8" name="cell text 0-2"/>
          <p:cNvSpPr txBox="1"/>
          <p:nvPr/>
        </p:nvSpPr>
        <p:spPr>
          <a:xfrm>
            <a:off x="7498080" y="132588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How it is enforced</a:t>
            </a:r>
            <a:endParaRPr lang="en-US" sz="1150" dirty="0"/>
          </a:p>
        </p:txBody>
      </p:sp>
      <p:sp>
        <p:nvSpPr>
          <p:cNvPr id="9" name="cell 1-0"/>
          <p:cNvSpPr/>
          <p:nvPr/>
        </p:nvSpPr>
        <p:spPr>
          <a:xfrm>
            <a:off x="548640" y="1929384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0" name="cell text 1-0"/>
          <p:cNvSpPr txBox="1"/>
          <p:nvPr/>
        </p:nvSpPr>
        <p:spPr>
          <a:xfrm>
            <a:off x="640080" y="192938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difficulty per bank</a:t>
            </a:r>
            <a:endParaRPr lang="en-US" sz="1150" dirty="0"/>
          </a:p>
        </p:txBody>
      </p:sp>
      <p:sp>
        <p:nvSpPr>
          <p:cNvPr id="11" name="cell 1-1"/>
          <p:cNvSpPr/>
          <p:nvPr/>
        </p:nvSpPr>
        <p:spPr>
          <a:xfrm>
            <a:off x="2926080" y="1929384"/>
            <a:ext cx="44805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2" name="cell text 1-1"/>
          <p:cNvSpPr txBox="1"/>
          <p:nvPr/>
        </p:nvSpPr>
        <p:spPr>
          <a:xfrm>
            <a:off x="3017520" y="192938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Your drawn problem takes the same number of steps (3) with the same number of resistors (5–6) as your neighbour's.</a:t>
            </a:r>
            <a:endParaRPr lang="en-US" sz="1150" dirty="0"/>
          </a:p>
        </p:txBody>
      </p:sp>
      <p:sp>
        <p:nvSpPr>
          <p:cNvPr id="13" name="cell 1-2"/>
          <p:cNvSpPr/>
          <p:nvPr/>
        </p:nvSpPr>
        <p:spPr>
          <a:xfrm>
            <a:off x="7406640" y="1929384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4" name="cell text 1-2"/>
          <p:cNvSpPr txBox="1"/>
          <p:nvPr/>
        </p:nvSpPr>
        <p:spPr>
          <a:xfrm>
            <a:off x="7498080" y="192938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reduction_steps: 3, resistors 5–6 — the critic rejects anything else</a:t>
            </a:r>
            <a:endParaRPr lang="en-US" sz="1150" dirty="0"/>
          </a:p>
        </p:txBody>
      </p:sp>
      <p:sp>
        <p:nvSpPr>
          <p:cNvPr id="15" name="cell 2-0"/>
          <p:cNvSpPr/>
          <p:nvPr/>
        </p:nvSpPr>
        <p:spPr>
          <a:xfrm>
            <a:off x="548640" y="2532888"/>
            <a:ext cx="237744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6" name="cell text 2-0"/>
          <p:cNvSpPr txBox="1"/>
          <p:nvPr/>
        </p:nvSpPr>
        <p:spPr>
          <a:xfrm>
            <a:off x="640080" y="253288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Every item a different path</a:t>
            </a:r>
            <a:endParaRPr lang="en-US" sz="1150" dirty="0"/>
          </a:p>
        </p:txBody>
      </p:sp>
      <p:sp>
        <p:nvSpPr>
          <p:cNvPr id="17" name="cell 2-1"/>
          <p:cNvSpPr/>
          <p:nvPr/>
        </p:nvSpPr>
        <p:spPr>
          <a:xfrm>
            <a:off x="2926080" y="2532888"/>
            <a:ext cx="448056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8" name="cell text 2-1"/>
          <p:cNvSpPr txBox="1"/>
          <p:nvPr/>
        </p:nvSpPr>
        <p:spPr>
          <a:xfrm>
            <a:off x="3017520" y="253288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You cannot pass by memorising last year's problem.</a:t>
            </a:r>
            <a:endParaRPr lang="en-US" sz="1150" dirty="0"/>
          </a:p>
        </p:txBody>
      </p:sp>
      <p:sp>
        <p:nvSpPr>
          <p:cNvPr id="19" name="cell 2-2"/>
          <p:cNvSpPr/>
          <p:nvPr/>
        </p:nvSpPr>
        <p:spPr>
          <a:xfrm>
            <a:off x="7406640" y="2532888"/>
            <a:ext cx="420624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0" name="cell text 2-2"/>
          <p:cNvSpPr txBox="1"/>
          <p:nvPr/>
        </p:nvSpPr>
        <p:spPr>
          <a:xfrm>
            <a:off x="7498080" y="253288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canonical-shape check: same shape = same problem</a:t>
            </a:r>
            <a:endParaRPr lang="en-US" sz="1150" dirty="0"/>
          </a:p>
        </p:txBody>
      </p:sp>
      <p:sp>
        <p:nvSpPr>
          <p:cNvPr id="21" name="cell 3-0"/>
          <p:cNvSpPr/>
          <p:nvPr/>
        </p:nvSpPr>
        <p:spPr>
          <a:xfrm>
            <a:off x="548640" y="3136392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2" name="cell text 3-0"/>
          <p:cNvSpPr txBox="1"/>
          <p:nvPr/>
        </p:nvSpPr>
        <p:spPr>
          <a:xfrm>
            <a:off x="640080" y="313639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Wrong answers are real mistakes</a:t>
            </a:r>
            <a:endParaRPr lang="en-US" sz="1150" dirty="0"/>
          </a:p>
        </p:txBody>
      </p:sp>
      <p:sp>
        <p:nvSpPr>
          <p:cNvPr id="23" name="cell 3-1"/>
          <p:cNvSpPr/>
          <p:nvPr/>
        </p:nvSpPr>
        <p:spPr>
          <a:xfrm>
            <a:off x="2926080" y="3136392"/>
            <a:ext cx="44805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4" name="cell text 3-1"/>
          <p:cNvSpPr txBox="1"/>
          <p:nvPr/>
        </p:nvSpPr>
        <p:spPr>
          <a:xfrm>
            <a:off x="3017520" y="313639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Three options are the numbers one specific error each produces; a fifth sits near the largest so a lone big value is no giveaway.</a:t>
            </a:r>
            <a:endParaRPr lang="en-US" sz="1150" dirty="0"/>
          </a:p>
        </p:txBody>
      </p:sp>
      <p:sp>
        <p:nvSpPr>
          <p:cNvPr id="25" name="cell 3-2"/>
          <p:cNvSpPr/>
          <p:nvPr/>
        </p:nvSpPr>
        <p:spPr>
          <a:xfrm>
            <a:off x="7406640" y="3136392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6" name="cell text 3-2"/>
          <p:cNvSpPr txBox="1"/>
          <p:nvPr/>
        </p:nvSpPr>
        <p:spPr>
          <a:xfrm>
            <a:off x="7498080" y="313639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distractors.py re-solves the circuit as a mistaken student would, then adds a decoy near the largest</a:t>
            </a:r>
            <a:endParaRPr lang="en-US" sz="1150" dirty="0"/>
          </a:p>
        </p:txBody>
      </p:sp>
      <p:sp>
        <p:nvSpPr>
          <p:cNvPr id="27" name="cell 4-0"/>
          <p:cNvSpPr/>
          <p:nvPr/>
        </p:nvSpPr>
        <p:spPr>
          <a:xfrm>
            <a:off x="548640" y="3739896"/>
            <a:ext cx="237744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8" name="cell text 4-0"/>
          <p:cNvSpPr txBox="1"/>
          <p:nvPr/>
        </p:nvSpPr>
        <p:spPr>
          <a:xfrm>
            <a:off x="640080" y="373989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Honest sizes</a:t>
            </a:r>
            <a:endParaRPr lang="en-US" sz="1150" dirty="0"/>
          </a:p>
        </p:txBody>
      </p:sp>
      <p:sp>
        <p:nvSpPr>
          <p:cNvPr id="29" name="cell 4-1"/>
          <p:cNvSpPr/>
          <p:nvPr/>
        </p:nvSpPr>
        <p:spPr>
          <a:xfrm>
            <a:off x="2926080" y="3739896"/>
            <a:ext cx="448056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0" name="cell text 4-1"/>
          <p:cNvSpPr txBox="1"/>
          <p:nvPr/>
        </p:nvSpPr>
        <p:spPr>
          <a:xfrm>
            <a:off x="3017520" y="373989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144 A distractor is what the mistake really gives.</a:t>
            </a:r>
            <a:endParaRPr lang="en-US" sz="1150" dirty="0"/>
          </a:p>
        </p:txBody>
      </p:sp>
      <p:sp>
        <p:nvSpPr>
          <p:cNvPr id="31" name="cell 4-2"/>
          <p:cNvSpPr/>
          <p:nvPr/>
        </p:nvSpPr>
        <p:spPr>
          <a:xfrm>
            <a:off x="7406640" y="3739896"/>
            <a:ext cx="420624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2" name="cell text 4-2"/>
          <p:cNvSpPr txBox="1"/>
          <p:nvPr/>
        </p:nvSpPr>
        <p:spPr>
          <a:xfrm>
            <a:off x="7498080" y="373989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deliberately not capped</a:t>
            </a:r>
            <a:endParaRPr lang="en-US" sz="1150" dirty="0"/>
          </a:p>
        </p:txBody>
      </p:sp>
      <p:sp>
        <p:nvSpPr>
          <p:cNvPr id="33" name="cell 5-0"/>
          <p:cNvSpPr/>
          <p:nvPr/>
        </p:nvSpPr>
        <p:spPr>
          <a:xfrm>
            <a:off x="548640" y="4343400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4" name="cell text 5-0"/>
          <p:cNvSpPr txBox="1"/>
          <p:nvPr/>
        </p:nvSpPr>
        <p:spPr>
          <a:xfrm>
            <a:off x="640080" y="434340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One drawing style</a:t>
            </a:r>
            <a:endParaRPr lang="en-US" sz="1150" dirty="0"/>
          </a:p>
        </p:txBody>
      </p:sp>
      <p:sp>
        <p:nvSpPr>
          <p:cNvPr id="35" name="cell 5-1"/>
          <p:cNvSpPr/>
          <p:nvPr/>
        </p:nvSpPr>
        <p:spPr>
          <a:xfrm>
            <a:off x="2926080" y="4343400"/>
            <a:ext cx="44805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6" name="cell text 5-1"/>
          <p:cNvSpPr txBox="1"/>
          <p:nvPr/>
        </p:nvSpPr>
        <p:spPr>
          <a:xfrm>
            <a:off x="3017520" y="43434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The figure never changes style between items.</a:t>
            </a:r>
            <a:endParaRPr lang="en-US" sz="1150" dirty="0"/>
          </a:p>
        </p:txBody>
      </p:sp>
      <p:sp>
        <p:nvSpPr>
          <p:cNvPr id="37" name="cell 5-2"/>
          <p:cNvSpPr/>
          <p:nvPr/>
        </p:nvSpPr>
        <p:spPr>
          <a:xfrm>
            <a:off x="7406640" y="4343400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8" name="cell text 5-2"/>
          <p:cNvSpPr txBox="1"/>
          <p:nvPr/>
        </p:nvSpPr>
        <p:spPr>
          <a:xfrm>
            <a:off x="7498080" y="4343400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layout: ladder for the whole bank</a:t>
            </a:r>
            <a:endParaRPr lang="en-US" sz="1150" dirty="0"/>
          </a:p>
        </p:txBody>
      </p:sp>
      <p:sp>
        <p:nvSpPr>
          <p:cNvPr id="39" name="cell 6-0"/>
          <p:cNvSpPr/>
          <p:nvPr/>
        </p:nvSpPr>
        <p:spPr>
          <a:xfrm>
            <a:off x="548640" y="4946904"/>
            <a:ext cx="237744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0" name="cell text 6-0"/>
          <p:cNvSpPr txBox="1"/>
          <p:nvPr/>
        </p:nvSpPr>
        <p:spPr>
          <a:xfrm>
            <a:off x="640080" y="49469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Clean arithmetic</a:t>
            </a:r>
            <a:endParaRPr lang="en-US" sz="1150" dirty="0"/>
          </a:p>
        </p:txBody>
      </p:sp>
      <p:sp>
        <p:nvSpPr>
          <p:cNvPr id="41" name="cell 6-1"/>
          <p:cNvSpPr/>
          <p:nvPr/>
        </p:nvSpPr>
        <p:spPr>
          <a:xfrm>
            <a:off x="2926080" y="4946904"/>
            <a:ext cx="448056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2" name="cell text 6-1"/>
          <p:cNvSpPr txBox="1"/>
          <p:nvPr/>
        </p:nvSpPr>
        <p:spPr>
          <a:xfrm>
            <a:off x="3017520" y="494690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Every intermediate resistance is a whole or half ohm.</a:t>
            </a:r>
            <a:endParaRPr lang="en-US" sz="1150" dirty="0"/>
          </a:p>
        </p:txBody>
      </p:sp>
      <p:sp>
        <p:nvSpPr>
          <p:cNvPr id="43" name="cell 6-2"/>
          <p:cNvSpPr/>
          <p:nvPr/>
        </p:nvSpPr>
        <p:spPr>
          <a:xfrm>
            <a:off x="7406640" y="4946904"/>
            <a:ext cx="4206240" cy="60350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4" name="cell text 6-2"/>
          <p:cNvSpPr txBox="1"/>
          <p:nvPr/>
        </p:nvSpPr>
        <p:spPr>
          <a:xfrm>
            <a:off x="7498080" y="4946904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enumerator accepts only such value sets; pool ≤ 12 Ω</a:t>
            </a:r>
            <a:endParaRPr lang="en-US" sz="1150" dirty="0"/>
          </a:p>
        </p:txBody>
      </p:sp>
      <p:sp>
        <p:nvSpPr>
          <p:cNvPr id="45" name="cell 7-0"/>
          <p:cNvSpPr/>
          <p:nvPr/>
        </p:nvSpPr>
        <p:spPr>
          <a:xfrm>
            <a:off x="548640" y="5550408"/>
            <a:ext cx="23774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6" name="cell text 7-0"/>
          <p:cNvSpPr txBox="1"/>
          <p:nvPr/>
        </p:nvSpPr>
        <p:spPr>
          <a:xfrm>
            <a:off x="640080" y="5550408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 worked solution for every item</a:t>
            </a:r>
            <a:endParaRPr lang="en-US" sz="1150" dirty="0"/>
          </a:p>
        </p:txBody>
      </p:sp>
      <p:sp>
        <p:nvSpPr>
          <p:cNvPr id="47" name="cell 7-1"/>
          <p:cNvSpPr/>
          <p:nvPr/>
        </p:nvSpPr>
        <p:spPr>
          <a:xfrm>
            <a:off x="2926080" y="5550408"/>
            <a:ext cx="44805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8" name="cell text 7-1"/>
          <p:cNvSpPr txBox="1"/>
          <p:nvPr/>
        </p:nvSpPr>
        <p:spPr>
          <a:xfrm>
            <a:off x="3017520" y="555040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Feedback shows every reduction step and a per-resistor table.</a:t>
            </a:r>
            <a:endParaRPr lang="en-US" sz="1150" dirty="0"/>
          </a:p>
        </p:txBody>
      </p:sp>
      <p:sp>
        <p:nvSpPr>
          <p:cNvPr id="49" name="cell 7-2"/>
          <p:cNvSpPr/>
          <p:nvPr/>
        </p:nvSpPr>
        <p:spPr>
          <a:xfrm>
            <a:off x="7406640" y="5550408"/>
            <a:ext cx="4206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50" name="cell text 7-2"/>
          <p:cNvSpPr txBox="1"/>
          <p:nvPr/>
        </p:nvSpPr>
        <p:spPr>
          <a:xfrm>
            <a:off x="7498080" y="5550408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written by the circuit engine into the bank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Wrong answers are computed, not invented</a:t>
            </a:r>
            <a:endParaRPr lang="en-US" sz="3200" dirty="0"/>
          </a:p>
        </p:txBody>
      </p:sp>
      <p:sp>
        <p:nvSpPr>
          <p:cNvPr id="3" name="item figure frame"/>
          <p:cNvSpPr/>
          <p:nvPr/>
        </p:nvSpPr>
        <p:spPr>
          <a:xfrm>
            <a:off x="548640" y="1371600"/>
            <a:ext cx="47548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4" name="item figure" descr="/Users/myrlaphillippe/Downloads/circuit-bank/circuit-banks/PHY II Electricity and Magnetism/1_DC Circuits/PHY2-DC-SPRTC-10222026/figures/q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44752"/>
            <a:ext cx="4608576" cy="3145536"/>
          </a:xfrm>
          <a:prstGeom prst="rect">
            <a:avLst/>
          </a:prstGeom>
        </p:spPr>
      </p:pic>
      <p:sp>
        <p:nvSpPr>
          <p:cNvPr id="5" name="item caption"/>
          <p:cNvSpPr txBox="1"/>
          <p:nvPr/>
        </p:nvSpPr>
        <p:spPr>
          <a:xfrm>
            <a:off x="54864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12 V battery · 3 || 6 + 4 · find the total current</a:t>
            </a:r>
            <a:endParaRPr lang="en-US" sz="1250" dirty="0"/>
          </a:p>
        </p:txBody>
      </p:sp>
      <p:sp>
        <p:nvSpPr>
          <p:cNvPr id="6" name="option card 1"/>
          <p:cNvSpPr/>
          <p:nvPr/>
        </p:nvSpPr>
        <p:spPr>
          <a:xfrm>
            <a:off x="5760720" y="1371600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option 1"/>
          <p:cNvSpPr txBox="1"/>
          <p:nvPr/>
        </p:nvSpPr>
        <p:spPr>
          <a:xfrm>
            <a:off x="5897880" y="14264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 A</a:t>
            </a:r>
            <a:endParaRPr lang="en-US" sz="2000" dirty="0"/>
          </a:p>
        </p:txBody>
      </p:sp>
      <p:sp>
        <p:nvSpPr>
          <p:cNvPr id="8" name="option why 1"/>
          <p:cNvSpPr txBox="1"/>
          <p:nvPr/>
        </p:nvSpPr>
        <p:spPr>
          <a:xfrm>
            <a:off x="7315200" y="14264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all_series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adds every resistor as if in series: 12 / (3 + 6 + 4)</a:t>
            </a:r>
            <a:endParaRPr lang="en-US" sz="1100" dirty="0"/>
          </a:p>
        </p:txBody>
      </p:sp>
      <p:sp>
        <p:nvSpPr>
          <p:cNvPr id="9" name="option card 2"/>
          <p:cNvSpPr/>
          <p:nvPr/>
        </p:nvSpPr>
        <p:spPr>
          <a:xfrm>
            <a:off x="5760720" y="2212848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option 2"/>
          <p:cNvSpPr txBox="1"/>
          <p:nvPr/>
        </p:nvSpPr>
        <p:spPr>
          <a:xfrm>
            <a:off x="5897880" y="22677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2.67 A</a:t>
            </a:r>
            <a:endParaRPr lang="en-US" sz="2000" dirty="0"/>
          </a:p>
        </p:txBody>
      </p:sp>
      <p:sp>
        <p:nvSpPr>
          <p:cNvPr id="11" name="option why 2"/>
          <p:cNvSpPr txBox="1"/>
          <p:nvPr/>
        </p:nvSpPr>
        <p:spPr>
          <a:xfrm>
            <a:off x="7315200" y="2267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no_invert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sums the reciprocals of the parallel pair but forgets to invert: 1/3 + 1/6 = 0.5 “Ω”</a:t>
            </a:r>
            <a:endParaRPr lang="en-US" sz="1100" dirty="0"/>
          </a:p>
        </p:txBody>
      </p:sp>
      <p:sp>
        <p:nvSpPr>
          <p:cNvPr id="12" name="option card 3"/>
          <p:cNvSpPr/>
          <p:nvPr/>
        </p:nvSpPr>
        <p:spPr>
          <a:xfrm>
            <a:off x="5760720" y="3054096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option 3"/>
          <p:cNvSpPr txBox="1"/>
          <p:nvPr/>
        </p:nvSpPr>
        <p:spPr>
          <a:xfrm>
            <a:off x="5897880" y="3108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1.33 A</a:t>
            </a:r>
            <a:endParaRPr lang="en-US" sz="2000" dirty="0"/>
          </a:p>
        </p:txBody>
      </p:sp>
      <p:sp>
        <p:nvSpPr>
          <p:cNvPr id="14" name="option why 3"/>
          <p:cNvSpPr txBox="1"/>
          <p:nvPr/>
        </p:nvSpPr>
        <p:spPr>
          <a:xfrm>
            <a:off x="7315200" y="3108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branch_current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reports the current through R1 (one branch) instead of the total</a:t>
            </a:r>
            <a:endParaRPr lang="en-US" sz="1100" dirty="0"/>
          </a:p>
        </p:txBody>
      </p:sp>
      <p:sp>
        <p:nvSpPr>
          <p:cNvPr id="15" name="option card 4"/>
          <p:cNvSpPr/>
          <p:nvPr/>
        </p:nvSpPr>
        <p:spPr>
          <a:xfrm>
            <a:off x="5760720" y="3895344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option 4"/>
          <p:cNvSpPr txBox="1"/>
          <p:nvPr/>
        </p:nvSpPr>
        <p:spPr>
          <a:xfrm>
            <a:off x="5897880" y="39502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2.40 A</a:t>
            </a:r>
            <a:endParaRPr lang="en-US" sz="2000" dirty="0"/>
          </a:p>
        </p:txBody>
      </p:sp>
      <p:sp>
        <p:nvSpPr>
          <p:cNvPr id="17" name="option why 4"/>
          <p:cNvSpPr txBox="1"/>
          <p:nvPr/>
        </p:nvSpPr>
        <p:spPr>
          <a:xfrm>
            <a:off x="7315200" y="39502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0.9 × the largest option — so the lone large value is not a giveaway by size</a:t>
            </a:r>
            <a:endParaRPr lang="en-US" sz="1100" dirty="0"/>
          </a:p>
        </p:txBody>
      </p:sp>
      <p:sp>
        <p:nvSpPr>
          <p:cNvPr id="18" name="option card 5"/>
          <p:cNvSpPr/>
          <p:nvPr/>
        </p:nvSpPr>
        <p:spPr>
          <a:xfrm>
            <a:off x="5760720" y="4736592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option 5"/>
          <p:cNvSpPr txBox="1"/>
          <p:nvPr/>
        </p:nvSpPr>
        <p:spPr>
          <a:xfrm>
            <a:off x="5897880" y="479145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 A</a:t>
            </a:r>
            <a:endParaRPr lang="en-US" sz="2000" dirty="0"/>
          </a:p>
        </p:txBody>
      </p:sp>
      <p:sp>
        <p:nvSpPr>
          <p:cNvPr id="20" name="option why 5"/>
          <p:cNvSpPr txBox="1"/>
          <p:nvPr/>
        </p:nvSpPr>
        <p:spPr>
          <a:xfrm>
            <a:off x="7315200" y="47914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‖ 6 = 2 Ω, + 4 = 6 Ω, 12 V / 6 Ω</a:t>
            </a:r>
            <a:endParaRPr lang="en-US" sz="1100" dirty="0"/>
          </a:p>
        </p:txBody>
      </p:sp>
      <p:sp>
        <p:nvSpPr>
          <p:cNvPr id="21" name="fallback note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Fallbacks (series_as_parallel, all_parallel, first_only) are used only when a value collides. Option order rotates per item; the mistake behind each option is written into the answer key.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three pieces</a:t>
            </a:r>
            <a:endParaRPr lang="en-US" sz="3200" dirty="0"/>
          </a:p>
        </p:txBody>
      </p:sp>
      <p:sp>
        <p:nvSpPr>
          <p:cNvPr id="3" name="piece 1"/>
          <p:cNvSpPr/>
          <p:nvPr/>
        </p:nvSpPr>
        <p:spPr>
          <a:xfrm>
            <a:off x="548640" y="13258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piece title 1"/>
          <p:cNvSpPr txBox="1"/>
          <p:nvPr/>
        </p:nvSpPr>
        <p:spPr>
          <a:xfrm>
            <a:off x="77724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Isomorphic-bank method</a:t>
            </a:r>
            <a:endParaRPr lang="en-US" sz="1700" dirty="0"/>
          </a:p>
        </p:txBody>
      </p:sp>
      <p:sp>
        <p:nvSpPr>
          <p:cNvPr id="5" name="piece who 1"/>
          <p:cNvSpPr txBox="1"/>
          <p:nvPr/>
        </p:nvSpPr>
        <p:spPr>
          <a:xfrm>
            <a:off x="77724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Zhongzhou Chen</a:t>
            </a:r>
            <a:endParaRPr lang="en-US" sz="1200" dirty="0"/>
          </a:p>
        </p:txBody>
      </p:sp>
      <p:sp>
        <p:nvSpPr>
          <p:cNvPr id="6" name="piece what 1"/>
          <p:cNvSpPr txBox="1"/>
          <p:nvPr/>
        </p:nvSpPr>
        <p:spPr>
          <a:xfrm>
            <a:off x="777240" y="2286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The definition; an input scheme; a generate → critique → count loop with a target, accepted/rejected lists with reasons and a 5-pass cap (scenario_list.py); the bank YAML template and folder convention.</a:t>
            </a:r>
            <a:endParaRPr lang="en-US" sz="1250" dirty="0"/>
          </a:p>
        </p:txBody>
      </p:sp>
      <p:sp>
        <p:nvSpPr>
          <p:cNvPr id="7" name="piece ai 1"/>
          <p:cNvSpPr txBox="1"/>
          <p:nvPr/>
        </p:nvSpPr>
        <p:spPr>
          <a:xfrm>
            <a:off x="777240" y="4160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AI inside: his critic and scenario writer are LLM agents. His docs: numbers, wording, figures “not generated yet”.</a:t>
            </a:r>
            <a:endParaRPr lang="en-US" sz="1150" dirty="0"/>
          </a:p>
        </p:txBody>
      </p:sp>
      <p:sp>
        <p:nvSpPr>
          <p:cNvPr id="8" name="piece 2"/>
          <p:cNvSpPr/>
          <p:nvPr/>
        </p:nvSpPr>
        <p:spPr>
          <a:xfrm>
            <a:off x="4297680" y="13258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piece title 2"/>
          <p:cNvSpPr txBox="1"/>
          <p:nvPr/>
        </p:nvSpPr>
        <p:spPr>
          <a:xfrm>
            <a:off x="452628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circuit-diagram-skill</a:t>
            </a:r>
            <a:endParaRPr lang="en-US" sz="1700" dirty="0"/>
          </a:p>
        </p:txBody>
      </p:sp>
      <p:sp>
        <p:nvSpPr>
          <p:cNvPr id="10" name="piece who 2"/>
          <p:cNvSpPr txBox="1"/>
          <p:nvPr/>
        </p:nvSpPr>
        <p:spPr>
          <a:xfrm>
            <a:off x="452628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Myrla Phillippe</a:t>
            </a:r>
            <a:endParaRPr lang="en-US" sz="1200" dirty="0"/>
          </a:p>
        </p:txBody>
      </p:sp>
      <p:sp>
        <p:nvSpPr>
          <p:cNvPr id="11" name="piece what 2"/>
          <p:cNvSpPr txBox="1"/>
          <p:nvPr/>
        </p:nvSpPr>
        <p:spPr>
          <a:xfrm>
            <a:off x="4526280" y="2286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small language — circuit lingo: (4 + 2) || 6 + 3 — a parser, a series/parallel solver with worked steps, and a Schemdraw figure generator. Same text in → same figure, numbers and solution out.</a:t>
            </a:r>
            <a:endParaRPr lang="en-US" sz="1250" dirty="0"/>
          </a:p>
        </p:txBody>
      </p:sp>
      <p:sp>
        <p:nvSpPr>
          <p:cNvPr id="12" name="piece ai 2"/>
          <p:cNvSpPr txBox="1"/>
          <p:nvPr/>
        </p:nvSpPr>
        <p:spPr>
          <a:xfrm>
            <a:off x="4526280" y="4160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AI inside: none. An LLM may only translate an unreadable sentence into lingo; it never invents circuits.</a:t>
            </a:r>
            <a:endParaRPr lang="en-US" sz="1150" dirty="0"/>
          </a:p>
        </p:txBody>
      </p:sp>
      <p:sp>
        <p:nvSpPr>
          <p:cNvPr id="13" name="piece 3"/>
          <p:cNvSpPr/>
          <p:nvPr/>
        </p:nvSpPr>
        <p:spPr>
          <a:xfrm>
            <a:off x="8046720" y="132588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piece title 3"/>
          <p:cNvSpPr txBox="1"/>
          <p:nvPr/>
        </p:nvSpPr>
        <p:spPr>
          <a:xfrm>
            <a:off x="827532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circuit-bank skill</a:t>
            </a:r>
            <a:endParaRPr lang="en-US" sz="1700" dirty="0"/>
          </a:p>
        </p:txBody>
      </p:sp>
      <p:sp>
        <p:nvSpPr>
          <p:cNvPr id="15" name="piece who 3"/>
          <p:cNvSpPr txBox="1"/>
          <p:nvPr/>
        </p:nvSpPr>
        <p:spPr>
          <a:xfrm>
            <a:off x="82753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this project</a:t>
            </a:r>
            <a:endParaRPr lang="en-US" sz="1200" dirty="0"/>
          </a:p>
        </p:txBody>
      </p:sp>
      <p:sp>
        <p:nvSpPr>
          <p:cNvPr id="16" name="piece what 3"/>
          <p:cNvSpPr txBox="1"/>
          <p:nvPr/>
        </p:nvSpPr>
        <p:spPr>
          <a:xfrm>
            <a:off x="8275320" y="22860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Runs Chen's loop for circuits: an enumerator proposes every shape in the difficulty band; a script critic replaces his LLM critic; the circuit engine replaces his sympy stage; computed distractors; bank YAML + PDF.</a:t>
            </a:r>
            <a:endParaRPr lang="en-US" sz="1250" dirty="0"/>
          </a:p>
        </p:txBody>
      </p:sp>
      <p:sp>
        <p:nvSpPr>
          <p:cNvPr id="17" name="piece ai 3"/>
          <p:cNvSpPr txBox="1"/>
          <p:nvPr/>
        </p:nvSpPr>
        <p:spPr>
          <a:xfrm>
            <a:off x="8275320" y="41605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AI inside: none by default. An LLM proposer exists as an opt-in (generator: llm) for comparison.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pipeline — whose work each stage is</a:t>
            </a:r>
            <a:endParaRPr lang="en-US" sz="3200" dirty="0"/>
          </a:p>
        </p:txBody>
      </p:sp>
      <p:sp>
        <p:nvSpPr>
          <p:cNvPr id="3" name="stage 1"/>
          <p:cNvSpPr/>
          <p:nvPr/>
        </p:nvSpPr>
        <p:spPr>
          <a:xfrm>
            <a:off x="548640" y="1554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tage title 1"/>
          <p:cNvSpPr txBox="1"/>
          <p:nvPr/>
        </p:nvSpPr>
        <p:spPr>
          <a:xfrm>
            <a:off x="640080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scheme</a:t>
            </a:r>
            <a:endParaRPr lang="en-US" sz="1400" dirty="0"/>
          </a:p>
        </p:txBody>
      </p:sp>
      <p:sp>
        <p:nvSpPr>
          <p:cNvPr id="5" name="stage note 1"/>
          <p:cNvSpPr txBox="1"/>
          <p:nvPr/>
        </p:nvSpPr>
        <p:spPr>
          <a:xfrm>
            <a:off x="64008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what circuits, how many,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difficulty, ranges, seed</a:t>
            </a:r>
            <a:endParaRPr lang="en-US" sz="1050" dirty="0"/>
          </a:p>
        </p:txBody>
      </p:sp>
      <p:sp>
        <p:nvSpPr>
          <p:cNvPr id="6" name="arrow 1"/>
          <p:cNvSpPr/>
          <p:nvPr/>
        </p:nvSpPr>
        <p:spPr>
          <a:xfrm>
            <a:off x="2267712" y="214884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7" name="stage 2"/>
          <p:cNvSpPr/>
          <p:nvPr/>
        </p:nvSpPr>
        <p:spPr>
          <a:xfrm>
            <a:off x="2414016" y="1554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tage title 2"/>
          <p:cNvSpPr txBox="1"/>
          <p:nvPr/>
        </p:nvSpPr>
        <p:spPr>
          <a:xfrm>
            <a:off x="2505456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Chen's loop</a:t>
            </a:r>
            <a:endParaRPr lang="en-US" sz="1400" dirty="0"/>
          </a:p>
        </p:txBody>
      </p:sp>
      <p:sp>
        <p:nvSpPr>
          <p:cNvPr id="9" name="stage note 2"/>
          <p:cNvSpPr txBox="1"/>
          <p:nvPr/>
        </p:nvSpPr>
        <p:spPr>
          <a:xfrm>
            <a:off x="2505456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sidecar: target, pass count,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accepted / rejected + reasons</a:t>
            </a:r>
            <a:endParaRPr lang="en-US" sz="1050" dirty="0"/>
          </a:p>
        </p:txBody>
      </p:sp>
      <p:sp>
        <p:nvSpPr>
          <p:cNvPr id="10" name="arrow 2"/>
          <p:cNvSpPr/>
          <p:nvPr/>
        </p:nvSpPr>
        <p:spPr>
          <a:xfrm>
            <a:off x="4133088" y="214884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1" name="stage 3"/>
          <p:cNvSpPr/>
          <p:nvPr/>
        </p:nvSpPr>
        <p:spPr>
          <a:xfrm>
            <a:off x="4279392" y="1554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tage title 3"/>
          <p:cNvSpPr txBox="1"/>
          <p:nvPr/>
        </p:nvSpPr>
        <p:spPr>
          <a:xfrm>
            <a:off x="4370832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Enumerate</a:t>
            </a:r>
            <a:endParaRPr lang="en-US" sz="1400" dirty="0"/>
          </a:p>
        </p:txBody>
      </p:sp>
      <p:sp>
        <p:nvSpPr>
          <p:cNvPr id="13" name="stage note 3"/>
          <p:cNvSpPr txBox="1"/>
          <p:nvPr/>
        </p:nvSpPr>
        <p:spPr>
          <a:xfrm>
            <a:off x="4370832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every shape in the band;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values from a pool by seed</a:t>
            </a:r>
            <a:endParaRPr lang="en-US" sz="1050" dirty="0"/>
          </a:p>
        </p:txBody>
      </p:sp>
      <p:sp>
        <p:nvSpPr>
          <p:cNvPr id="14" name="arrow 3"/>
          <p:cNvSpPr/>
          <p:nvPr/>
        </p:nvSpPr>
        <p:spPr>
          <a:xfrm>
            <a:off x="5998464" y="214884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5" name="stage 4"/>
          <p:cNvSpPr/>
          <p:nvPr/>
        </p:nvSpPr>
        <p:spPr>
          <a:xfrm>
            <a:off x="6144768" y="1554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tage title 4"/>
          <p:cNvSpPr txBox="1"/>
          <p:nvPr/>
        </p:nvSpPr>
        <p:spPr>
          <a:xfrm>
            <a:off x="6236208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Critic (script)</a:t>
            </a:r>
            <a:endParaRPr lang="en-US" sz="1400" dirty="0"/>
          </a:p>
        </p:txBody>
      </p:sp>
      <p:sp>
        <p:nvSpPr>
          <p:cNvPr id="17" name="stage note 4"/>
          <p:cNvSpPr txBox="1"/>
          <p:nvPr/>
        </p:nvSpPr>
        <p:spPr>
          <a:xfrm>
            <a:off x="6236208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parse · solve · canonical shape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· reduction steps · ranges</a:t>
            </a:r>
            <a:endParaRPr lang="en-US" sz="1050" dirty="0"/>
          </a:p>
        </p:txBody>
      </p:sp>
      <p:sp>
        <p:nvSpPr>
          <p:cNvPr id="18" name="arrow 4"/>
          <p:cNvSpPr/>
          <p:nvPr/>
        </p:nvSpPr>
        <p:spPr>
          <a:xfrm>
            <a:off x="7863840" y="214884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19" name="stage 5"/>
          <p:cNvSpPr/>
          <p:nvPr/>
        </p:nvSpPr>
        <p:spPr>
          <a:xfrm>
            <a:off x="8010144" y="1554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tage title 5"/>
          <p:cNvSpPr txBox="1"/>
          <p:nvPr/>
        </p:nvSpPr>
        <p:spPr>
          <a:xfrm>
            <a:off x="8101584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Circuit engine</a:t>
            </a:r>
            <a:endParaRPr lang="en-US" sz="1400" dirty="0"/>
          </a:p>
        </p:txBody>
      </p:sp>
      <p:sp>
        <p:nvSpPr>
          <p:cNvPr id="21" name="stage note 5"/>
          <p:cNvSpPr txBox="1"/>
          <p:nvPr/>
        </p:nvSpPr>
        <p:spPr>
          <a:xfrm>
            <a:off x="8101584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figure (Schemdraw), numbers,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worked solution</a:t>
            </a:r>
            <a:endParaRPr lang="en-US" sz="1050" dirty="0"/>
          </a:p>
        </p:txBody>
      </p:sp>
      <p:sp>
        <p:nvSpPr>
          <p:cNvPr id="22" name="arrow 5"/>
          <p:cNvSpPr/>
          <p:nvPr/>
        </p:nvSpPr>
        <p:spPr>
          <a:xfrm>
            <a:off x="9729216" y="2148840"/>
            <a:ext cx="164592" cy="182880"/>
          </a:xfrm>
          <a:prstGeom prst="rightArrow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23" name="stage 6"/>
          <p:cNvSpPr/>
          <p:nvPr/>
        </p:nvSpPr>
        <p:spPr>
          <a:xfrm>
            <a:off x="9875520" y="155448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tage title 6"/>
          <p:cNvSpPr txBox="1"/>
          <p:nvPr/>
        </p:nvSpPr>
        <p:spPr>
          <a:xfrm>
            <a:off x="9966960" y="16642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Bank + PDF</a:t>
            </a:r>
            <a:endParaRPr lang="en-US" sz="1400" dirty="0"/>
          </a:p>
        </p:txBody>
      </p:sp>
      <p:sp>
        <p:nvSpPr>
          <p:cNvPr id="25" name="stage note 6"/>
          <p:cNvSpPr txBox="1"/>
          <p:nvPr/>
        </p:nvSpPr>
        <p:spPr>
          <a:xfrm>
            <a:off x="9966960" y="20574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computed distractors;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Chen's YAML template; PDF</a:t>
            </a:r>
            <a:endParaRPr lang="en-US" sz="1050" dirty="0"/>
          </a:p>
        </p:txBody>
      </p:sp>
      <p:sp>
        <p:nvSpPr>
          <p:cNvPr id="26" name="legend 1"/>
          <p:cNvSpPr/>
          <p:nvPr/>
        </p:nvSpPr>
        <p:spPr>
          <a:xfrm>
            <a:off x="548640" y="3154680"/>
            <a:ext cx="201168" cy="164592"/>
          </a:xfrm>
          <a:prstGeom prst="rect">
            <a:avLst/>
          </a:prstGeom>
          <a:solidFill>
            <a:srgbClr val="DCE6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legend text 1"/>
          <p:cNvSpPr txBox="1"/>
          <p:nvPr/>
        </p:nvSpPr>
        <p:spPr>
          <a:xfrm>
            <a:off x="82296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Zhongzhou Chen's method and scripts, run in place</a:t>
            </a:r>
            <a:endParaRPr lang="en-US" sz="1100" dirty="0"/>
          </a:p>
        </p:txBody>
      </p:sp>
      <p:sp>
        <p:nvSpPr>
          <p:cNvPr id="28" name="legend 2"/>
          <p:cNvSpPr/>
          <p:nvPr/>
        </p:nvSpPr>
        <p:spPr>
          <a:xfrm>
            <a:off x="4389120" y="3154680"/>
            <a:ext cx="201168" cy="164592"/>
          </a:xfrm>
          <a:prstGeom prst="rect">
            <a:avLst/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legend text 2"/>
          <p:cNvSpPr txBox="1"/>
          <p:nvPr/>
        </p:nvSpPr>
        <p:spPr>
          <a:xfrm>
            <a:off x="466344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circuit-diagram-skill — deterministic engine</a:t>
            </a:r>
            <a:endParaRPr lang="en-US" sz="1100" dirty="0"/>
          </a:p>
        </p:txBody>
      </p:sp>
      <p:sp>
        <p:nvSpPr>
          <p:cNvPr id="30" name="legend 3"/>
          <p:cNvSpPr/>
          <p:nvPr/>
        </p:nvSpPr>
        <p:spPr>
          <a:xfrm>
            <a:off x="8229600" y="3154680"/>
            <a:ext cx="201168" cy="164592"/>
          </a:xfrm>
          <a:prstGeom prst="rect">
            <a:avLst/>
          </a:prstGeom>
          <a:solidFill>
            <a:srgbClr val="F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legend text 3"/>
          <p:cNvSpPr txBox="1"/>
          <p:nvPr/>
        </p:nvSpPr>
        <p:spPr>
          <a:xfrm>
            <a:off x="850392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circuit-bank glue — deterministic</a:t>
            </a:r>
            <a:endParaRPr lang="en-US" sz="1100" dirty="0"/>
          </a:p>
        </p:txBody>
      </p:sp>
      <p:sp>
        <p:nvSpPr>
          <p:cNvPr id="32" name="flow heading"/>
          <p:cNvSpPr txBox="1"/>
          <p:nvPr/>
        </p:nvSpPr>
        <p:spPr>
          <a:xfrm>
            <a:off x="548640" y="370332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flows between the stages</a:t>
            </a:r>
            <a:endParaRPr lang="en-US" sz="1400" dirty="0"/>
          </a:p>
        </p:txBody>
      </p:sp>
      <p:sp>
        <p:nvSpPr>
          <p:cNvPr id="33" name="flow dot 1"/>
          <p:cNvSpPr/>
          <p:nvPr/>
        </p:nvSpPr>
        <p:spPr>
          <a:xfrm>
            <a:off x="548640" y="4206240"/>
            <a:ext cx="182880" cy="182880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34" name="flow 1"/>
          <p:cNvSpPr txBox="1"/>
          <p:nvPr/>
        </p:nvSpPr>
        <p:spPr>
          <a:xfrm>
            <a:off x="850392" y="4114800"/>
            <a:ext cx="10762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circuit-input.yaml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recipe — n_scenarios, difficulty band, value ranges, seed, bank id</a:t>
            </a:r>
            <a:endParaRPr lang="en-US" sz="1200" dirty="0"/>
          </a:p>
        </p:txBody>
      </p:sp>
      <p:sp>
        <p:nvSpPr>
          <p:cNvPr id="35" name="flow dot 2"/>
          <p:cNvSpPr/>
          <p:nvPr/>
        </p:nvSpPr>
        <p:spPr>
          <a:xfrm>
            <a:off x="548640" y="4736592"/>
            <a:ext cx="182880" cy="182880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36" name="flow 2"/>
          <p:cNvSpPr txBox="1"/>
          <p:nvPr/>
        </p:nvSpPr>
        <p:spPr>
          <a:xfrm>
            <a:off x="850392" y="4645152"/>
            <a:ext cx="10762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circuit-input.scenarios.yaml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Chen's sidecar — the accepted lingo list, the source of truth the bank regenerates from</a:t>
            </a:r>
            <a:endParaRPr lang="en-US" sz="1200" dirty="0"/>
          </a:p>
        </p:txBody>
      </p:sp>
      <p:sp>
        <p:nvSpPr>
          <p:cNvPr id="37" name="flow dot 3"/>
          <p:cNvSpPr/>
          <p:nvPr/>
        </p:nvSpPr>
        <p:spPr>
          <a:xfrm>
            <a:off x="548640" y="5266944"/>
            <a:ext cx="182880" cy="182880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38" name="flow 3"/>
          <p:cNvSpPr txBox="1"/>
          <p:nvPr/>
        </p:nvSpPr>
        <p:spPr>
          <a:xfrm>
            <a:off x="850392" y="5175504"/>
            <a:ext cx="10762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agent2.json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candidates for one pass — the same JSON whether the enumerator or an LLM wrote them</a:t>
            </a:r>
            <a:endParaRPr lang="en-US" sz="1200" dirty="0"/>
          </a:p>
        </p:txBody>
      </p:sp>
      <p:sp>
        <p:nvSpPr>
          <p:cNvPr id="39" name="flow dot 4"/>
          <p:cNvSpPr/>
          <p:nvPr/>
        </p:nvSpPr>
        <p:spPr>
          <a:xfrm>
            <a:off x="548640" y="5797296"/>
            <a:ext cx="182880" cy="182880"/>
          </a:xfrm>
          <a:prstGeom prst="ellipse">
            <a:avLst/>
          </a:prstGeom>
          <a:solidFill>
            <a:srgbClr val="8A2A1B"/>
          </a:solidFill>
          <a:ln w="12700">
            <a:solidFill>
              <a:srgbClr val="8A2A1B"/>
            </a:solidFill>
            <a:prstDash val="solid"/>
          </a:ln>
        </p:spPr>
      </p:sp>
      <p:sp>
        <p:nvSpPr>
          <p:cNvPr id="40" name="flow 4"/>
          <p:cNvSpPr txBox="1"/>
          <p:nvPr/>
        </p:nvSpPr>
        <p:spPr>
          <a:xfrm>
            <a:off x="850392" y="5705856"/>
            <a:ext cx="107624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&lt;bank_id&gt;.yaml + figures/ + .pdf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product — importable bank, one figure per item, printable worksheet with answer key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run — the 30-item bank</a:t>
            </a:r>
            <a:endParaRPr lang="en-US" sz="3200" dirty="0"/>
          </a:p>
        </p:txBody>
      </p:sp>
      <p:sp>
        <p:nvSpPr>
          <p:cNvPr id="3" name="input heading"/>
          <p:cNvSpPr txBox="1"/>
          <p:nvPr/>
        </p:nvSpPr>
        <p:spPr>
          <a:xfrm>
            <a:off x="548640" y="12801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(excerpt)</a:t>
            </a:r>
            <a:endParaRPr lang="en-US" sz="1400" dirty="0"/>
          </a:p>
        </p:txBody>
      </p:sp>
      <p:sp>
        <p:nvSpPr>
          <p:cNvPr id="4" name="input box"/>
          <p:cNvSpPr/>
          <p:nvPr/>
        </p:nvSpPr>
        <p:spPr>
          <a:xfrm>
            <a:off x="548640" y="1645920"/>
            <a:ext cx="5120640" cy="2103120"/>
          </a:xfrm>
          <a:prstGeom prst="rect">
            <a:avLst/>
          </a:prstGeom>
          <a:solidFill>
            <a:srgbClr val="F6F4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input text"/>
          <p:cNvSpPr txBox="1"/>
          <p:nvPr/>
        </p:nvSpPr>
        <p:spPr>
          <a:xfrm>
            <a:off x="685800" y="173736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Series-parallel resistor networks: total 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n_scenarios: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bank_id: PHY2-DC-SPRTC3-10292026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question_type: multiple_choice     layout: ladder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resistor_range: [1, 24]     voltage_range: [6, 36]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min_resistors: 5     max_resistors: 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reduction_steps: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generator: enumerate     seed: 0</a:t>
            </a:r>
            <a:endParaRPr lang="en-US" sz="1100" dirty="0"/>
          </a:p>
        </p:txBody>
      </p:sp>
      <p:sp>
        <p:nvSpPr>
          <p:cNvPr id="6" name="enum heading"/>
          <p:cNvSpPr txBox="1"/>
          <p:nvPr/>
        </p:nvSpPr>
        <p:spPr>
          <a:xfrm>
            <a:off x="548640" y="4023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Enumerator output (one of 30)</a:t>
            </a:r>
            <a:endParaRPr lang="en-US" sz="1400" dirty="0"/>
          </a:p>
        </p:txBody>
      </p:sp>
      <p:sp>
        <p:nvSpPr>
          <p:cNvPr id="7" name="enum box"/>
          <p:cNvSpPr/>
          <p:nvPr/>
        </p:nvSpPr>
        <p:spPr>
          <a:xfrm>
            <a:off x="548640" y="4389120"/>
            <a:ext cx="5120640" cy="1097280"/>
          </a:xfrm>
          <a:prstGeom prst="rect">
            <a:avLst/>
          </a:prstGeom>
          <a:solidFill>
            <a:srgbClr val="F6F4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enum text"/>
          <p:cNvSpPr txBox="1"/>
          <p:nvPr/>
        </p:nvSpPr>
        <p:spPr>
          <a:xfrm>
            <a:off x="685800" y="4480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9 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circuit: (6 + 4) || (9 + 6)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ask: total current</a:t>
            </a:r>
            <a:endParaRPr lang="en-US" sz="1200" dirty="0"/>
          </a:p>
        </p:txBody>
      </p:sp>
      <p:sp>
        <p:nvSpPr>
          <p:cNvPr id="9" name="critic heading"/>
          <p:cNvSpPr txBox="1"/>
          <p:nvPr/>
        </p:nvSpPr>
        <p:spPr>
          <a:xfrm>
            <a:off x="6126480" y="1280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 the critic checks, and the reason it writes</a:t>
            </a:r>
            <a:endParaRPr lang="en-US" sz="1400" dirty="0"/>
          </a:p>
        </p:txBody>
      </p:sp>
      <p:sp>
        <p:nvSpPr>
          <p:cNvPr id="10" name="check 1"/>
          <p:cNvSpPr/>
          <p:nvPr/>
        </p:nvSpPr>
        <p:spPr>
          <a:xfrm>
            <a:off x="6126480" y="16916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check text 1"/>
          <p:cNvSpPr txBox="1"/>
          <p:nvPr/>
        </p:nvSpPr>
        <p:spPr>
          <a:xfrm>
            <a:off x="6263640" y="174650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parses and solves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“circuit-diagram-skill rejects it: The circuit line ends too early…”</a:t>
            </a:r>
            <a:endParaRPr lang="en-US" sz="1150" dirty="0"/>
          </a:p>
        </p:txBody>
      </p:sp>
      <p:sp>
        <p:nvSpPr>
          <p:cNvPr id="12" name="check 2"/>
          <p:cNvSpPr/>
          <p:nvPr/>
        </p:nvSpPr>
        <p:spPr>
          <a:xfrm>
            <a:off x="6126480" y="25603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check text 2"/>
          <p:cNvSpPr txBox="1"/>
          <p:nvPr/>
        </p:nvSpPr>
        <p:spPr>
          <a:xfrm>
            <a:off x="6263640" y="261518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new canonical shape (+ ask)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“same solution path (S(P(R,R),R)) as an accepted scenario: 3 || 6 + 4”</a:t>
            </a:r>
            <a:endParaRPr lang="en-US" sz="1150" dirty="0"/>
          </a:p>
        </p:txBody>
      </p:sp>
      <p:sp>
        <p:nvSpPr>
          <p:cNvPr id="14" name="check 3"/>
          <p:cNvSpPr/>
          <p:nvPr/>
        </p:nvSpPr>
        <p:spPr>
          <a:xfrm>
            <a:off x="6126480" y="342900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check text 3"/>
          <p:cNvSpPr txBox="1"/>
          <p:nvPr/>
        </p:nvSpPr>
        <p:spPr>
          <a:xfrm>
            <a:off x="6263640" y="348386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values in range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“outside the input's ranges: R1 = 50 Ω is outside resistor_range [1, 24]”</a:t>
            </a:r>
            <a:endParaRPr lang="en-US" sz="1150" dirty="0"/>
          </a:p>
        </p:txBody>
      </p:sp>
      <p:sp>
        <p:nvSpPr>
          <p:cNvPr id="16" name="check 4"/>
          <p:cNvSpPr/>
          <p:nvPr/>
        </p:nvSpPr>
        <p:spPr>
          <a:xfrm>
            <a:off x="6126480" y="42976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check text 4"/>
          <p:cNvSpPr txBox="1"/>
          <p:nvPr/>
        </p:nvSpPr>
        <p:spPr>
          <a:xfrm>
            <a:off x="6263640" y="435254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difficulty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“5 reduction steps; this bank wants 3 (same difficulty for every item)”</a:t>
            </a:r>
            <a:endParaRPr lang="en-US" sz="1150" dirty="0"/>
          </a:p>
        </p:txBody>
      </p:sp>
      <p:sp>
        <p:nvSpPr>
          <p:cNvPr id="18" name="run summary"/>
          <p:cNvSpPr txBox="1"/>
          <p:nvPr/>
        </p:nvSpPr>
        <p:spPr>
          <a:xfrm>
            <a:off x="6126480" y="5212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This run: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Chen's validate_input.py ok · receive → needed 30 · enumerator wrote 30 · critic kept 30, rejected 0 · 30 items, 0 failures · PDF built.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Where the AI is — and is not</a:t>
            </a:r>
            <a:endParaRPr lang="en-US" sz="3200" dirty="0"/>
          </a:p>
        </p:txBody>
      </p:sp>
      <p:sp>
        <p:nvSpPr>
          <p:cNvPr id="3" name="cell 0-0"/>
          <p:cNvSpPr/>
          <p:nvPr/>
        </p:nvSpPr>
        <p:spPr>
          <a:xfrm>
            <a:off x="548640" y="1325880"/>
            <a:ext cx="2926080" cy="512064"/>
          </a:xfrm>
          <a:prstGeom prst="rect">
            <a:avLst/>
          </a:prstGeom>
          <a:solidFill>
            <a:srgbClr val="F3EFEA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" name="cell text 0-0"/>
          <p:cNvSpPr txBox="1"/>
          <p:nvPr/>
        </p:nvSpPr>
        <p:spPr>
          <a:xfrm>
            <a:off x="640080" y="13258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Stage</a:t>
            </a:r>
            <a:endParaRPr lang="en-US" sz="1200" dirty="0"/>
          </a:p>
        </p:txBody>
      </p:sp>
      <p:sp>
        <p:nvSpPr>
          <p:cNvPr id="5" name="cell 0-1"/>
          <p:cNvSpPr/>
          <p:nvPr/>
        </p:nvSpPr>
        <p:spPr>
          <a:xfrm>
            <a:off x="3474720" y="1325880"/>
            <a:ext cx="3840480" cy="512064"/>
          </a:xfrm>
          <a:prstGeom prst="rect">
            <a:avLst/>
          </a:prstGeom>
          <a:solidFill>
            <a:srgbClr val="F3EFEA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6" name="cell text 0-1"/>
          <p:cNvSpPr txBox="1"/>
          <p:nvPr/>
        </p:nvSpPr>
        <p:spPr>
          <a:xfrm>
            <a:off x="3566160" y="132588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Chen's pipeline</a:t>
            </a:r>
            <a:endParaRPr lang="en-US" sz="1200" dirty="0"/>
          </a:p>
        </p:txBody>
      </p:sp>
      <p:sp>
        <p:nvSpPr>
          <p:cNvPr id="7" name="cell 0-2"/>
          <p:cNvSpPr/>
          <p:nvPr/>
        </p:nvSpPr>
        <p:spPr>
          <a:xfrm>
            <a:off x="7315200" y="1325880"/>
            <a:ext cx="4297680" cy="512064"/>
          </a:xfrm>
          <a:prstGeom prst="rect">
            <a:avLst/>
          </a:prstGeom>
          <a:solidFill>
            <a:srgbClr val="F3EFEA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8" name="cell text 0-2"/>
          <p:cNvSpPr txBox="1"/>
          <p:nvPr/>
        </p:nvSpPr>
        <p:spPr>
          <a:xfrm>
            <a:off x="7406640" y="132588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This pipeline</a:t>
            </a:r>
            <a:endParaRPr lang="en-US" sz="1200" dirty="0"/>
          </a:p>
        </p:txBody>
      </p:sp>
      <p:sp>
        <p:nvSpPr>
          <p:cNvPr id="9" name="cell 1-0"/>
          <p:cNvSpPr/>
          <p:nvPr/>
        </p:nvSpPr>
        <p:spPr>
          <a:xfrm>
            <a:off x="548640" y="1837944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0" name="cell text 1-0"/>
          <p:cNvSpPr txBox="1"/>
          <p:nvPr/>
        </p:nvSpPr>
        <p:spPr>
          <a:xfrm>
            <a:off x="640080" y="18379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Describe the problem family</a:t>
            </a:r>
            <a:endParaRPr lang="en-US" sz="1200" dirty="0"/>
          </a:p>
        </p:txBody>
      </p:sp>
      <p:sp>
        <p:nvSpPr>
          <p:cNvPr id="11" name="cell 1-1"/>
          <p:cNvSpPr/>
          <p:nvPr/>
        </p:nvSpPr>
        <p:spPr>
          <a:xfrm>
            <a:off x="3474720" y="1837944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2" name="cell text 1-1"/>
          <p:cNvSpPr txBox="1"/>
          <p:nvPr/>
        </p:nvSpPr>
        <p:spPr>
          <a:xfrm>
            <a:off x="3566160" y="183794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human writes the input</a:t>
            </a:r>
            <a:endParaRPr lang="en-US" sz="1200" dirty="0"/>
          </a:p>
        </p:txBody>
      </p:sp>
      <p:sp>
        <p:nvSpPr>
          <p:cNvPr id="13" name="cell 1-2"/>
          <p:cNvSpPr/>
          <p:nvPr/>
        </p:nvSpPr>
        <p:spPr>
          <a:xfrm>
            <a:off x="7315200" y="1837944"/>
            <a:ext cx="4297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4" name="cell text 1-2"/>
          <p:cNvSpPr txBox="1"/>
          <p:nvPr/>
        </p:nvSpPr>
        <p:spPr>
          <a:xfrm>
            <a:off x="7406640" y="183794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human writes the input</a:t>
            </a:r>
            <a:endParaRPr lang="en-US" sz="1200" dirty="0"/>
          </a:p>
        </p:txBody>
      </p:sp>
      <p:sp>
        <p:nvSpPr>
          <p:cNvPr id="15" name="cell 2-0"/>
          <p:cNvSpPr/>
          <p:nvPr/>
        </p:nvSpPr>
        <p:spPr>
          <a:xfrm>
            <a:off x="548640" y="2350008"/>
            <a:ext cx="29260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6" name="cell text 2-0"/>
          <p:cNvSpPr txBox="1"/>
          <p:nvPr/>
        </p:nvSpPr>
        <p:spPr>
          <a:xfrm>
            <a:off x="640080" y="23500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Propose variations</a:t>
            </a:r>
            <a:endParaRPr lang="en-US" sz="1200" dirty="0"/>
          </a:p>
        </p:txBody>
      </p:sp>
      <p:sp>
        <p:nvSpPr>
          <p:cNvPr id="17" name="cell 2-1"/>
          <p:cNvSpPr/>
          <p:nvPr/>
        </p:nvSpPr>
        <p:spPr>
          <a:xfrm>
            <a:off x="3474720" y="2350008"/>
            <a:ext cx="38404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18" name="cell text 2-1"/>
          <p:cNvSpPr txBox="1"/>
          <p:nvPr/>
        </p:nvSpPr>
        <p:spPr>
          <a:xfrm>
            <a:off x="3566160" y="235000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 writes prose scenarios</a:t>
            </a:r>
            <a:endParaRPr lang="en-US" sz="1200" dirty="0"/>
          </a:p>
        </p:txBody>
      </p:sp>
      <p:sp>
        <p:nvSpPr>
          <p:cNvPr id="19" name="cell 2-2"/>
          <p:cNvSpPr/>
          <p:nvPr/>
        </p:nvSpPr>
        <p:spPr>
          <a:xfrm>
            <a:off x="7315200" y="2350008"/>
            <a:ext cx="42976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0" name="cell text 2-2"/>
          <p:cNvSpPr txBox="1"/>
          <p:nvPr/>
        </p:nvSpPr>
        <p:spPr>
          <a:xfrm>
            <a:off x="7406640" y="235000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enumeration of every shape in the band (LLM opt-in)</a:t>
            </a:r>
            <a:endParaRPr lang="en-US" sz="1200" dirty="0"/>
          </a:p>
        </p:txBody>
      </p:sp>
      <p:sp>
        <p:nvSpPr>
          <p:cNvPr id="21" name="cell 3-0"/>
          <p:cNvSpPr/>
          <p:nvPr/>
        </p:nvSpPr>
        <p:spPr>
          <a:xfrm>
            <a:off x="548640" y="2862072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2" name="cell text 3-0"/>
          <p:cNvSpPr txBox="1"/>
          <p:nvPr/>
        </p:nvSpPr>
        <p:spPr>
          <a:xfrm>
            <a:off x="640080" y="286207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Judge variations</a:t>
            </a:r>
            <a:endParaRPr lang="en-US" sz="1200" dirty="0"/>
          </a:p>
        </p:txBody>
      </p:sp>
      <p:sp>
        <p:nvSpPr>
          <p:cNvPr id="23" name="cell 3-1"/>
          <p:cNvSpPr/>
          <p:nvPr/>
        </p:nvSpPr>
        <p:spPr>
          <a:xfrm>
            <a:off x="3474720" y="2862072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4" name="cell text 3-1"/>
          <p:cNvSpPr txBox="1"/>
          <p:nvPr/>
        </p:nvSpPr>
        <p:spPr>
          <a:xfrm>
            <a:off x="3566160" y="286207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LLM critic</a:t>
            </a:r>
            <a:endParaRPr lang="en-US" sz="1200" dirty="0"/>
          </a:p>
        </p:txBody>
      </p:sp>
      <p:sp>
        <p:nvSpPr>
          <p:cNvPr id="25" name="cell 3-2"/>
          <p:cNvSpPr/>
          <p:nvPr/>
        </p:nvSpPr>
        <p:spPr>
          <a:xfrm>
            <a:off x="7315200" y="2862072"/>
            <a:ext cx="4297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6" name="cell text 3-2"/>
          <p:cNvSpPr txBox="1"/>
          <p:nvPr/>
        </p:nvSpPr>
        <p:spPr>
          <a:xfrm>
            <a:off x="7406640" y="286207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script: parse, solve, shape, steps, ranges</a:t>
            </a:r>
            <a:endParaRPr lang="en-US" sz="1200" dirty="0"/>
          </a:p>
        </p:txBody>
      </p:sp>
      <p:sp>
        <p:nvSpPr>
          <p:cNvPr id="27" name="cell 4-0"/>
          <p:cNvSpPr/>
          <p:nvPr/>
        </p:nvSpPr>
        <p:spPr>
          <a:xfrm>
            <a:off x="548640" y="3374136"/>
            <a:ext cx="29260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28" name="cell text 4-0"/>
          <p:cNvSpPr txBox="1"/>
          <p:nvPr/>
        </p:nvSpPr>
        <p:spPr>
          <a:xfrm>
            <a:off x="640080" y="337413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Equations / numbers</a:t>
            </a:r>
            <a:endParaRPr lang="en-US" sz="1200" dirty="0"/>
          </a:p>
        </p:txBody>
      </p:sp>
      <p:sp>
        <p:nvSpPr>
          <p:cNvPr id="29" name="cell 4-1"/>
          <p:cNvSpPr/>
          <p:nvPr/>
        </p:nvSpPr>
        <p:spPr>
          <a:xfrm>
            <a:off x="3474720" y="3374136"/>
            <a:ext cx="38404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0" name="cell text 4-1"/>
          <p:cNvSpPr txBox="1"/>
          <p:nvPr/>
        </p:nvSpPr>
        <p:spPr>
          <a:xfrm>
            <a:off x="3566160" y="3374136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sympy from LaTeX; random numbers “not yet”</a:t>
            </a:r>
            <a:endParaRPr lang="en-US" sz="1200" dirty="0"/>
          </a:p>
        </p:txBody>
      </p:sp>
      <p:sp>
        <p:nvSpPr>
          <p:cNvPr id="31" name="cell 4-2"/>
          <p:cNvSpPr/>
          <p:nvPr/>
        </p:nvSpPr>
        <p:spPr>
          <a:xfrm>
            <a:off x="7315200" y="3374136"/>
            <a:ext cx="42976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2" name="cell text 4-2"/>
          <p:cNvSpPr txBox="1"/>
          <p:nvPr/>
        </p:nvSpPr>
        <p:spPr>
          <a:xfrm>
            <a:off x="7406640" y="337413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circuit engine, deterministic</a:t>
            </a:r>
            <a:endParaRPr lang="en-US" sz="1200" dirty="0"/>
          </a:p>
        </p:txBody>
      </p:sp>
      <p:sp>
        <p:nvSpPr>
          <p:cNvPr id="33" name="cell 5-0"/>
          <p:cNvSpPr/>
          <p:nvPr/>
        </p:nvSpPr>
        <p:spPr>
          <a:xfrm>
            <a:off x="548640" y="3886200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4" name="cell text 5-0"/>
          <p:cNvSpPr txBox="1"/>
          <p:nvPr/>
        </p:nvSpPr>
        <p:spPr>
          <a:xfrm>
            <a:off x="640080" y="38862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Figures</a:t>
            </a:r>
            <a:endParaRPr lang="en-US" sz="1200" dirty="0"/>
          </a:p>
        </p:txBody>
      </p:sp>
      <p:sp>
        <p:nvSpPr>
          <p:cNvPr id="35" name="cell 5-1"/>
          <p:cNvSpPr/>
          <p:nvPr/>
        </p:nvSpPr>
        <p:spPr>
          <a:xfrm>
            <a:off x="3474720" y="3886200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6" name="cell text 5-1"/>
          <p:cNvSpPr txBox="1"/>
          <p:nvPr/>
        </p:nvSpPr>
        <p:spPr>
          <a:xfrm>
            <a:off x="3566160" y="38862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generated</a:t>
            </a:r>
            <a:endParaRPr lang="en-US" sz="1200" dirty="0"/>
          </a:p>
        </p:txBody>
      </p:sp>
      <p:sp>
        <p:nvSpPr>
          <p:cNvPr id="37" name="cell 5-2"/>
          <p:cNvSpPr/>
          <p:nvPr/>
        </p:nvSpPr>
        <p:spPr>
          <a:xfrm>
            <a:off x="7315200" y="3886200"/>
            <a:ext cx="4297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38" name="cell text 5-2"/>
          <p:cNvSpPr txBox="1"/>
          <p:nvPr/>
        </p:nvSpPr>
        <p:spPr>
          <a:xfrm>
            <a:off x="7406640" y="388620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Schemdraw, from the same lingo</a:t>
            </a:r>
            <a:endParaRPr lang="en-US" sz="1200" dirty="0"/>
          </a:p>
        </p:txBody>
      </p:sp>
      <p:sp>
        <p:nvSpPr>
          <p:cNvPr id="39" name="cell 6-0"/>
          <p:cNvSpPr/>
          <p:nvPr/>
        </p:nvSpPr>
        <p:spPr>
          <a:xfrm>
            <a:off x="548640" y="4398264"/>
            <a:ext cx="29260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0" name="cell text 6-0"/>
          <p:cNvSpPr txBox="1"/>
          <p:nvPr/>
        </p:nvSpPr>
        <p:spPr>
          <a:xfrm>
            <a:off x="640080" y="43982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Wrong answers</a:t>
            </a:r>
            <a:endParaRPr lang="en-US" sz="1200" dirty="0"/>
          </a:p>
        </p:txBody>
      </p:sp>
      <p:sp>
        <p:nvSpPr>
          <p:cNvPr id="41" name="cell 6-1"/>
          <p:cNvSpPr/>
          <p:nvPr/>
        </p:nvSpPr>
        <p:spPr>
          <a:xfrm>
            <a:off x="3474720" y="4398264"/>
            <a:ext cx="38404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2" name="cell text 6-1"/>
          <p:cNvSpPr txBox="1"/>
          <p:nvPr/>
        </p:nvSpPr>
        <p:spPr>
          <a:xfrm>
            <a:off x="3566160" y="439826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—</a:t>
            </a:r>
            <a:endParaRPr lang="en-US" sz="1200" dirty="0"/>
          </a:p>
        </p:txBody>
      </p:sp>
      <p:sp>
        <p:nvSpPr>
          <p:cNvPr id="43" name="cell 6-2"/>
          <p:cNvSpPr/>
          <p:nvPr/>
        </p:nvSpPr>
        <p:spPr>
          <a:xfrm>
            <a:off x="7315200" y="4398264"/>
            <a:ext cx="4297680" cy="512064"/>
          </a:xfrm>
          <a:prstGeom prst="rect">
            <a:avLst/>
          </a:prstGeom>
          <a:solidFill>
            <a:srgbClr val="FAF8F5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4" name="cell text 6-2"/>
          <p:cNvSpPr txBox="1"/>
          <p:nvPr/>
        </p:nvSpPr>
        <p:spPr>
          <a:xfrm>
            <a:off x="7406640" y="439826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computed from named mistakes</a:t>
            </a:r>
            <a:endParaRPr lang="en-US" sz="1200" dirty="0"/>
          </a:p>
        </p:txBody>
      </p:sp>
      <p:sp>
        <p:nvSpPr>
          <p:cNvPr id="45" name="cell 7-0"/>
          <p:cNvSpPr/>
          <p:nvPr/>
        </p:nvSpPr>
        <p:spPr>
          <a:xfrm>
            <a:off x="548640" y="4910328"/>
            <a:ext cx="2926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6" name="cell text 7-0"/>
          <p:cNvSpPr txBox="1"/>
          <p:nvPr/>
        </p:nvSpPr>
        <p:spPr>
          <a:xfrm>
            <a:off x="640080" y="49103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Wording</a:t>
            </a:r>
            <a:endParaRPr lang="en-US" sz="1200" dirty="0"/>
          </a:p>
        </p:txBody>
      </p:sp>
      <p:sp>
        <p:nvSpPr>
          <p:cNvPr id="47" name="cell 7-1"/>
          <p:cNvSpPr/>
          <p:nvPr/>
        </p:nvSpPr>
        <p:spPr>
          <a:xfrm>
            <a:off x="3474720" y="4910328"/>
            <a:ext cx="3840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48" name="cell text 7-1"/>
          <p:cNvSpPr txBox="1"/>
          <p:nvPr/>
        </p:nvSpPr>
        <p:spPr>
          <a:xfrm>
            <a:off x="3566160" y="4910328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generated</a:t>
            </a:r>
            <a:endParaRPr lang="en-US" sz="1200" dirty="0"/>
          </a:p>
        </p:txBody>
      </p:sp>
      <p:sp>
        <p:nvSpPr>
          <p:cNvPr id="49" name="cell 7-2"/>
          <p:cNvSpPr/>
          <p:nvPr/>
        </p:nvSpPr>
        <p:spPr>
          <a:xfrm>
            <a:off x="7315200" y="4910328"/>
            <a:ext cx="4297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A"/>
            </a:solidFill>
            <a:prstDash val="solid"/>
          </a:ln>
        </p:spPr>
      </p:sp>
      <p:sp>
        <p:nvSpPr>
          <p:cNvPr id="50" name="cell text 7-2"/>
          <p:cNvSpPr txBox="1"/>
          <p:nvPr/>
        </p:nvSpPr>
        <p:spPr>
          <a:xfrm>
            <a:off x="7406640" y="491032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fixed template from the engine</a:t>
            </a:r>
            <a:endParaRPr lang="en-US" sz="1200" dirty="0"/>
          </a:p>
        </p:txBody>
      </p:sp>
      <p:sp>
        <p:nvSpPr>
          <p:cNvPr id="51" name="repro card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repro text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Reproducibility.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Same input + same seed → the same 30 scenarios. Same sidecar → the same bank, byte for byte (verified). The sidecar is the source of truth; YAML, figures and PDF are derived.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Difficulty has a ceiling</a:t>
            </a:r>
            <a:endParaRPr lang="en-US" sz="3200" dirty="0"/>
          </a:p>
        </p:txBody>
      </p:sp>
      <p:graphicFrame>
        <p:nvGraphicFramePr>
          <p:cNvPr id="3" name="shape count chart" descr=""/>
          <p:cNvGraphicFramePr/>
          <p:nvPr/>
        </p:nvGraphicFramePr>
        <p:xfrm>
          <a:off x="548640" y="1280160"/>
          <a:ext cx="658368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7498080" y="128016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tat 30"/>
          <p:cNvSpPr txBox="1"/>
          <p:nvPr/>
        </p:nvSpPr>
        <p:spPr>
          <a:xfrm>
            <a:off x="7635240" y="13258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30</a:t>
            </a:r>
            <a:endParaRPr lang="en-US" sz="4800" dirty="0"/>
          </a:p>
        </p:txBody>
      </p:sp>
      <p:sp>
        <p:nvSpPr>
          <p:cNvPr id="6" name="stat label"/>
          <p:cNvSpPr txBox="1"/>
          <p:nvPr/>
        </p:nvSpPr>
        <p:spPr>
          <a:xfrm>
            <a:off x="8961120" y="13716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distinct 3-step shapes with 5–6 resistors (34 with 4–6). The bank uses every one of the 30</a:t>
            </a:r>
            <a:endParaRPr lang="en-US" sz="1250" dirty="0"/>
          </a:p>
        </p:txBody>
      </p:sp>
      <p:sp>
        <p:nvSpPr>
          <p:cNvPr id="7" name="ceiling dot 1"/>
          <p:cNvSpPr/>
          <p:nvPr/>
        </p:nvSpPr>
        <p:spPr>
          <a:xfrm>
            <a:off x="7498080" y="297180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8" name="ceiling 1"/>
          <p:cNvSpPr txBox="1"/>
          <p:nvPr/>
        </p:nvSpPr>
        <p:spPr>
          <a:xfrm>
            <a:off x="7799832" y="288036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Fixing difficulty = fixing the step count.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reduction step per group collapsed</a:t>
            </a:r>
            <a:endParaRPr lang="en-US" sz="1150" dirty="0"/>
          </a:p>
        </p:txBody>
      </p:sp>
      <p:sp>
        <p:nvSpPr>
          <p:cNvPr id="9" name="ceiling dot 2"/>
          <p:cNvSpPr/>
          <p:nvPr/>
        </p:nvSpPr>
        <p:spPr>
          <a:xfrm>
            <a:off x="7498080" y="379476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0" name="ceiling 2"/>
          <p:cNvSpPr txBox="1"/>
          <p:nvPr/>
        </p:nvSpPr>
        <p:spPr>
          <a:xfrm>
            <a:off x="7799832" y="370332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The set is finite and small.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2, 4, 10, 24, 66 shapes for 2–6 resistors — the classic series-parallel sequence</a:t>
            </a:r>
            <a:endParaRPr lang="en-US" sz="1150" dirty="0"/>
          </a:p>
        </p:txBody>
      </p:sp>
      <p:sp>
        <p:nvSpPr>
          <p:cNvPr id="11" name="ceiling dot 3"/>
          <p:cNvSpPr/>
          <p:nvPr/>
        </p:nvSpPr>
        <p:spPr>
          <a:xfrm>
            <a:off x="7498080" y="461772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2" name="ceiling 3"/>
          <p:cNvSpPr txBox="1"/>
          <p:nvPr/>
        </p:nvSpPr>
        <p:spPr>
          <a:xfrm>
            <a:off x="7799832" y="452628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Wanting more at one difficulty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means allowing more resistors, not inventing shapes — and that is a different difficulty</a:t>
            </a:r>
            <a:endParaRPr lang="en-US" sz="1150" dirty="0"/>
          </a:p>
        </p:txBody>
      </p:sp>
      <p:sp>
        <p:nvSpPr>
          <p:cNvPr id="13" name="ceiling dot 4"/>
          <p:cNvSpPr/>
          <p:nvPr/>
        </p:nvSpPr>
        <p:spPr>
          <a:xfrm>
            <a:off x="7498080" y="544068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4" name="ceiling 4"/>
          <p:cNvSpPr txBox="1"/>
          <p:nvPr/>
        </p:nvSpPr>
        <p:spPr>
          <a:xfrm>
            <a:off x="7799832" y="534924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Enumeration, not guessing.  </a:t>
            </a:r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an LLM finding all 30 within 5 passes is unlikely; the enumerator lists every one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and verification</a:t>
            </a:r>
            <a:endParaRPr lang="en-US" sz="3200" dirty="0"/>
          </a:p>
        </p:txBody>
      </p:sp>
      <p:sp>
        <p:nvSpPr>
          <p:cNvPr id="3" name="bank card 1"/>
          <p:cNvSpPr/>
          <p:nvPr/>
        </p:nvSpPr>
        <p:spPr>
          <a:xfrm>
            <a:off x="548640" y="12801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bank id 1"/>
          <p:cNvSpPr txBox="1"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PHY2-DC-SPRTC-10222026</a:t>
            </a:r>
            <a:endParaRPr lang="en-US" sz="1500" dirty="0"/>
          </a:p>
        </p:txBody>
      </p:sp>
      <p:sp>
        <p:nvSpPr>
          <p:cNvPr id="5" name="bank items 1"/>
          <p:cNvSpPr txBox="1"/>
          <p:nvPr/>
        </p:nvSpPr>
        <p:spPr>
          <a:xfrm>
            <a:off x="7772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 items</a:t>
            </a:r>
            <a:endParaRPr lang="en-US" sz="2600" dirty="0"/>
          </a:p>
        </p:txBody>
      </p:sp>
      <p:sp>
        <p:nvSpPr>
          <p:cNvPr id="6" name="bank facts 1"/>
          <p:cNvSpPr txBox="1"/>
          <p:nvPr/>
        </p:nvSpPr>
        <p:spPr>
          <a:xfrm>
            <a:off x="777240" y="23317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mixed difficulty, 2–5 steps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proposer: LLM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0 rejections — 10 distinct shapes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answers: several repeat</a:t>
            </a:r>
            <a:endParaRPr lang="en-US" sz="1150" dirty="0"/>
          </a:p>
        </p:txBody>
      </p:sp>
      <p:sp>
        <p:nvSpPr>
          <p:cNvPr id="7" name="bank figure 1 frame"/>
          <p:cNvSpPr/>
          <p:nvPr/>
        </p:nvSpPr>
        <p:spPr>
          <a:xfrm>
            <a:off x="3291840" y="1783080"/>
            <a:ext cx="2468880" cy="2560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8" name="bank figure 1" descr="/Users/myrlaphillippe/Downloads/circuit-bank/circuit-banks/PHY II Electricity and Magnetism/1_DC Circuits/PHY2-DC-SPRTC-10222026/figures/q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64992" y="1856232"/>
            <a:ext cx="2322576" cy="2414016"/>
          </a:xfrm>
          <a:prstGeom prst="rect">
            <a:avLst/>
          </a:prstGeom>
        </p:spPr>
      </p:pic>
      <p:sp>
        <p:nvSpPr>
          <p:cNvPr id="9" name="bank card 2"/>
          <p:cNvSpPr/>
          <p:nvPr/>
        </p:nvSpPr>
        <p:spPr>
          <a:xfrm>
            <a:off x="6217920" y="128016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E2EE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bank id 2"/>
          <p:cNvSpPr txBox="1"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PHY2-DC-SPRTC3-10292026</a:t>
            </a:r>
            <a:endParaRPr lang="en-US" sz="1500" dirty="0"/>
          </a:p>
        </p:txBody>
      </p:sp>
      <p:sp>
        <p:nvSpPr>
          <p:cNvPr id="11" name="bank items 2"/>
          <p:cNvSpPr txBox="1"/>
          <p:nvPr/>
        </p:nvSpPr>
        <p:spPr>
          <a:xfrm>
            <a:off x="644652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30 items</a:t>
            </a:r>
            <a:endParaRPr lang="en-US" sz="2600" dirty="0"/>
          </a:p>
        </p:txBody>
      </p:sp>
      <p:sp>
        <p:nvSpPr>
          <p:cNvPr id="12" name="bank facts 2"/>
          <p:cNvSpPr txBox="1"/>
          <p:nvPr/>
        </p:nvSpPr>
        <p:spPr>
          <a:xfrm>
            <a:off x="6446520" y="233172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one difficulty: exactly 3 steps, 5–6 resistors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proposer: enumerator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0 rejections — all 30 shapes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chemeClr val="tx1"/>
                </a:solidFill>
              </a:rPr>
              <a:t>answers: all distinct</a:t>
            </a:r>
            <a:endParaRPr lang="en-US" sz="1150" dirty="0"/>
          </a:p>
        </p:txBody>
      </p:sp>
      <p:sp>
        <p:nvSpPr>
          <p:cNvPr id="13" name="bank figure 2 frame"/>
          <p:cNvSpPr/>
          <p:nvPr/>
        </p:nvSpPr>
        <p:spPr>
          <a:xfrm>
            <a:off x="8961120" y="1783080"/>
            <a:ext cx="2468880" cy="2560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8D2CA"/>
            </a:solidFill>
            <a:prstDash val="solid"/>
          </a:ln>
        </p:spPr>
      </p:sp>
      <p:pic>
        <p:nvPicPr>
          <p:cNvPr id="14" name="bank figure 2" descr="/Users/myrlaphillippe/Downloads/circuit-bank/circuit-banks/PHY II Electricity and Magnetism/1_DC Circuits/PHY2-DC-SPRTC3-10292026/figures/q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34272" y="1856232"/>
            <a:ext cx="2322576" cy="2414016"/>
          </a:xfrm>
          <a:prstGeom prst="rect">
            <a:avLst/>
          </a:prstGeom>
        </p:spPr>
      </p:pic>
      <p:sp>
        <p:nvSpPr>
          <p:cNvPr id="15" name="checks heading"/>
          <p:cNvSpPr txBox="1"/>
          <p:nvPr/>
        </p:nvSpPr>
        <p:spPr>
          <a:xfrm>
            <a:off x="548640" y="475488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independent checks</a:t>
            </a:r>
            <a:endParaRPr lang="en-US" sz="1400" dirty="0"/>
          </a:p>
        </p:txBody>
      </p:sp>
      <p:sp>
        <p:nvSpPr>
          <p:cNvPr id="16" name="check dot 1"/>
          <p:cNvSpPr/>
          <p:nvPr/>
        </p:nvSpPr>
        <p:spPr>
          <a:xfrm>
            <a:off x="548640" y="521208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7" name="check 1"/>
          <p:cNvSpPr txBox="1"/>
          <p:nvPr/>
        </p:nvSpPr>
        <p:spPr>
          <a:xfrm>
            <a:off x="850392" y="5120640"/>
            <a:ext cx="10762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Chen's own validate_input.py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accepts the circuit input scheme — no missing fields</a:t>
            </a:r>
            <a:endParaRPr lang="en-US" sz="1200" dirty="0"/>
          </a:p>
        </p:txBody>
      </p:sp>
      <p:sp>
        <p:nvSpPr>
          <p:cNvPr id="18" name="check dot 2"/>
          <p:cNvSpPr/>
          <p:nvPr/>
        </p:nvSpPr>
        <p:spPr>
          <a:xfrm>
            <a:off x="548640" y="562356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19" name="check 2"/>
          <p:cNvSpPr txBox="1"/>
          <p:nvPr/>
        </p:nvSpPr>
        <p:spPr>
          <a:xfrm>
            <a:off x="850392" y="5532120"/>
            <a:ext cx="10762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Regeneration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item re-parsed and re-solved; the bank rebuilt from its sidecar is byte-identical</a:t>
            </a:r>
            <a:endParaRPr lang="en-US" sz="1200" dirty="0"/>
          </a:p>
        </p:txBody>
      </p:sp>
      <p:sp>
        <p:nvSpPr>
          <p:cNvPr id="20" name="check dot 3"/>
          <p:cNvSpPr/>
          <p:nvPr/>
        </p:nvSpPr>
        <p:spPr>
          <a:xfrm>
            <a:off x="548640" y="6035040"/>
            <a:ext cx="182880" cy="182880"/>
          </a:xfrm>
          <a:prstGeom prst="ellipse">
            <a:avLst/>
          </a:prstGeom>
          <a:solidFill>
            <a:srgbClr val="2F4858"/>
          </a:solidFill>
          <a:ln w="12700">
            <a:solidFill>
              <a:srgbClr val="2F4858"/>
            </a:solidFill>
            <a:prstDash val="solid"/>
          </a:ln>
        </p:spPr>
      </p:sp>
      <p:sp>
        <p:nvSpPr>
          <p:cNvPr id="21" name="check 3"/>
          <p:cNvSpPr txBox="1"/>
          <p:nvPr/>
        </p:nvSpPr>
        <p:spPr>
          <a:xfrm>
            <a:off x="850392" y="5943600"/>
            <a:ext cx="10762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Critic log 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every shape unique with exactly 3 steps — 30 kept, 0 rejected, in one pass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Limits and next steps</a:t>
            </a:r>
            <a:endParaRPr lang="en-US" sz="3200" dirty="0"/>
          </a:p>
        </p:txBody>
      </p:sp>
      <p:sp>
        <p:nvSpPr>
          <p:cNvPr id="3" name="limit 1"/>
          <p:cNvSpPr/>
          <p:nvPr/>
        </p:nvSpPr>
        <p:spPr>
          <a:xfrm>
            <a:off x="548640" y="1325880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limit key 1"/>
          <p:cNvSpPr txBox="1"/>
          <p:nvPr/>
        </p:nvSpPr>
        <p:spPr>
          <a:xfrm>
            <a:off x="731520" y="13990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Canvas import (QTI)</a:t>
            </a:r>
            <a:endParaRPr lang="en-US" sz="1400" dirty="0"/>
          </a:p>
        </p:txBody>
      </p:sp>
      <p:sp>
        <p:nvSpPr>
          <p:cNvPr id="5" name="limit text 1"/>
          <p:cNvSpPr txBox="1"/>
          <p:nvPr/>
        </p:nvSpPr>
        <p:spPr>
          <a:xfrm>
            <a:off x="3566160" y="139903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produced. Chen's bank folders ship a QTI zip from an external converter. A deterministic QTI 2.1 exporter for multiple-choice-with-image is a well-scoped next step.</a:t>
            </a:r>
            <a:endParaRPr lang="en-US" sz="1200" dirty="0"/>
          </a:p>
        </p:txBody>
      </p:sp>
      <p:sp>
        <p:nvSpPr>
          <p:cNvPr id="6" name="limit 2"/>
          <p:cNvSpPr/>
          <p:nvPr/>
        </p:nvSpPr>
        <p:spPr>
          <a:xfrm>
            <a:off x="548640" y="2313432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limit key 2"/>
          <p:cNvSpPr txBox="1"/>
          <p:nvPr/>
        </p:nvSpPr>
        <p:spPr>
          <a:xfrm>
            <a:off x="731520" y="238658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Varying the unknown</a:t>
            </a:r>
            <a:endParaRPr lang="en-US" sz="1400" dirty="0"/>
          </a:p>
        </p:txBody>
      </p:sp>
      <p:sp>
        <p:nvSpPr>
          <p:cNvPr id="8" name="limit text 2"/>
          <p:cNvSpPr txBox="1"/>
          <p:nvPr/>
        </p:nvSpPr>
        <p:spPr>
          <a:xfrm>
            <a:off x="3566160" y="2386584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Fixed to “total current”. Chen's input has unknown_rotation for this but it is not implemented yet; our critic already treats a different ask as a different problem.</a:t>
            </a:r>
            <a:endParaRPr lang="en-US" sz="1200" dirty="0"/>
          </a:p>
        </p:txBody>
      </p:sp>
      <p:sp>
        <p:nvSpPr>
          <p:cNvPr id="9" name="limit 3"/>
          <p:cNvSpPr/>
          <p:nvPr/>
        </p:nvSpPr>
        <p:spPr>
          <a:xfrm>
            <a:off x="548640" y="3300984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limit key 3"/>
          <p:cNvSpPr txBox="1"/>
          <p:nvPr/>
        </p:nvSpPr>
        <p:spPr>
          <a:xfrm>
            <a:off x="731520" y="337413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Number randomisation per student</a:t>
            </a:r>
            <a:endParaRPr lang="en-US" sz="1400" dirty="0"/>
          </a:p>
        </p:txBody>
      </p:sp>
      <p:sp>
        <p:nvSpPr>
          <p:cNvPr id="11" name="limit text 3"/>
          <p:cNvSpPr txBox="1"/>
          <p:nvPr/>
        </p:nvSpPr>
        <p:spPr>
          <a:xfrm>
            <a:off x="3566160" y="337413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 done (also “not yet” in Chen's docs). Isomorphism is carried by the topology; numbers are fixed per item.</a:t>
            </a:r>
            <a:endParaRPr lang="en-US" sz="1200" dirty="0"/>
          </a:p>
        </p:txBody>
      </p:sp>
      <p:sp>
        <p:nvSpPr>
          <p:cNvPr id="12" name="limit 4"/>
          <p:cNvSpPr/>
          <p:nvPr/>
        </p:nvSpPr>
        <p:spPr>
          <a:xfrm>
            <a:off x="548640" y="4288536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limit key 4"/>
          <p:cNvSpPr txBox="1"/>
          <p:nvPr/>
        </p:nvSpPr>
        <p:spPr>
          <a:xfrm>
            <a:off x="731520" y="4361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Distractor magnitude</a:t>
            </a:r>
            <a:endParaRPr lang="en-US" sz="1400" dirty="0"/>
          </a:p>
        </p:txBody>
      </p:sp>
      <p:sp>
        <p:nvSpPr>
          <p:cNvPr id="14" name="limit text 4"/>
          <p:cNvSpPr txBox="1"/>
          <p:nvPr/>
        </p:nvSpPr>
        <p:spPr>
          <a:xfrm>
            <a:off x="3566160" y="436168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Left honest, no cap — one option can be 100× the answer. A documented design choice.</a:t>
            </a:r>
            <a:endParaRPr lang="en-US" sz="1200" dirty="0"/>
          </a:p>
        </p:txBody>
      </p:sp>
      <p:sp>
        <p:nvSpPr>
          <p:cNvPr id="15" name="limit 5"/>
          <p:cNvSpPr/>
          <p:nvPr/>
        </p:nvSpPr>
        <p:spPr>
          <a:xfrm>
            <a:off x="548640" y="5276088"/>
            <a:ext cx="11064240" cy="877824"/>
          </a:xfrm>
          <a:prstGeom prst="roundRect">
            <a:avLst>
              <a:gd name="adj" fmla="val 8333"/>
            </a:avLst>
          </a:prstGeom>
          <a:solidFill>
            <a:srgbClr val="F3EFE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limit key 5"/>
          <p:cNvSpPr txBox="1"/>
          <p:nvPr/>
        </p:nvSpPr>
        <p:spPr>
          <a:xfrm>
            <a:off x="731520" y="5349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Licensing</a:t>
            </a:r>
            <a:endParaRPr lang="en-US" sz="1400" dirty="0"/>
          </a:p>
        </p:txBody>
      </p:sp>
      <p:sp>
        <p:nvSpPr>
          <p:cNvPr id="17" name="limit text 5"/>
          <p:cNvSpPr txBox="1"/>
          <p:nvPr/>
        </p:nvSpPr>
        <p:spPr>
          <a:xfrm>
            <a:off x="3566160" y="53492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Chen's repo is CC BY-NC 4.0 and private; the skill that embeds one of his scripts is private too. The public circuit-banks repo holds only our output.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rcuit bank">
  <a:themeElements>
    <a:clrScheme name="Circuit bank">
      <a:dk1>
        <a:srgbClr val="1E1E1E"/>
      </a:dk1>
      <a:lt1>
        <a:srgbClr val="FFFFFF"/>
      </a:lt1>
      <a:dk2>
        <a:srgbClr val="2F4858"/>
      </a:dk2>
      <a:lt2>
        <a:srgbClr val="F3EFEA"/>
      </a:lt2>
      <a:accent1>
        <a:srgbClr val="8A2A1B"/>
      </a:accent1>
      <a:accent2>
        <a:srgbClr val="2F4858"/>
      </a:accent2>
      <a:accent3>
        <a:srgbClr val="C9A66B"/>
      </a:accent3>
      <a:accent4>
        <a:srgbClr val="DCE6EE"/>
      </a:accent4>
      <a:accent5>
        <a:srgbClr val="E2EEDC"/>
      </a:accent5>
      <a:accent6>
        <a:srgbClr val="F7E3D4"/>
      </a:accent6>
      <a:hlink>
        <a:srgbClr val="8A2A1B"/>
      </a:hlink>
      <a:folHlink>
        <a:srgbClr val="2F4858"/>
      </a:folHlink>
    </a:clrScheme>
    <a:fontScheme name="Circuit ba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circuit bank works</dc:title>
  <dc:subject>PptxGenJS Presentation</dc:subject>
  <dc:creator>Myrla Phillippe</dc:creator>
  <cp:lastModifiedBy>Myrla Phillippe</cp:lastModifiedBy>
  <cp:revision>1</cp:revision>
  <dcterms:created xsi:type="dcterms:W3CDTF">2026-10-30T02:19:25Z</dcterms:created>
  <dcterms:modified xsi:type="dcterms:W3CDTF">2026-10-30T02:19:25Z</dcterms:modified>
</cp:coreProperties>
</file>