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0e2b7c92-8d3b-edfd-4235-b2e9e365d8e9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Isomorphic is Zhongzhou Chen's term: a bank of problems that test the same objective with variations that change the solution, not only the numbers. The three criteria give a floor (more than numbers; a different solution) and a ceiling (same difficulty). The use case is a random draw per student for one exam slot, which is only fair inside that band. For resistor networks, an isomorph is a different series-parallel topology asked the same way at the same number of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Chen's generate-critique-count loop runs unchanged (scenario_list.py). Two of his agents are replaced because circuits can be enumerated and verified: the proposer is an enumerator over all series-parallel shapes in the difficulty band, and the critic is a script that parses, solves, canonicalises the shape, counts reduction steps and checks ranges. The circuit engine (circuit-diagram-skill) produces every figure, number and worked solution; distractors are recomputed from named student mistakes. 34 shapes exist at 3 steps with 4-6 resistors; the bank uses 30 of them; same input and seed regenerate the identical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The circuit bank in two slides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“isomorphic” means — and why it is built for the student</a:t>
            </a:r>
            <a:endParaRPr lang="en-US" sz="3200" dirty="0"/>
          </a:p>
        </p:txBody>
      </p:sp>
      <p:sp>
        <p:nvSpPr>
          <p:cNvPr id="3" name="1  More than new numbers card"/>
          <p:cNvSpPr/>
          <p:nvPr/>
        </p:nvSpPr>
        <p:spPr>
          <a:xfrm>
            <a:off x="548640" y="12344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1  More than new numbers"/>
          <p:cNvSpPr txBox="1"/>
          <p:nvPr/>
        </p:nvSpPr>
        <p:spPr>
          <a:xfrm>
            <a:off x="713232" y="134416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 More than new numbers</a:t>
            </a:r>
            <a:endParaRPr lang="en-US" sz="1400" dirty="0"/>
          </a:p>
        </p:txBody>
      </p:sp>
      <p:sp>
        <p:nvSpPr>
          <p:cNvPr id="5" name="1  More than new numbers text"/>
          <p:cNvSpPr txBox="1"/>
          <p:nvPr/>
        </p:nvSpPr>
        <p:spPr>
          <a:xfrm>
            <a:off x="713232" y="170992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Same circuit with different values is not a variation — students pattern-match the one solution path.</a:t>
            </a:r>
            <a:endParaRPr lang="en-US" sz="1150" dirty="0"/>
          </a:p>
        </p:txBody>
      </p:sp>
      <p:sp>
        <p:nvSpPr>
          <p:cNvPr id="6" name="2  A different solution card"/>
          <p:cNvSpPr/>
          <p:nvPr/>
        </p:nvSpPr>
        <p:spPr>
          <a:xfrm>
            <a:off x="548640" y="25146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2  A different solution"/>
          <p:cNvSpPr txBox="1"/>
          <p:nvPr/>
        </p:nvSpPr>
        <p:spPr>
          <a:xfrm>
            <a:off x="713232" y="262432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 A different solution</a:t>
            </a:r>
            <a:endParaRPr lang="en-US" sz="1400" dirty="0"/>
          </a:p>
        </p:txBody>
      </p:sp>
      <p:sp>
        <p:nvSpPr>
          <p:cNvPr id="8" name="2  A different solution text"/>
          <p:cNvSpPr txBox="1"/>
          <p:nvPr/>
        </p:nvSpPr>
        <p:spPr>
          <a:xfrm>
            <a:off x="713232" y="299008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At least one reduction step must differ. Redrawing, reordering or renaming parts changes nothing.</a:t>
            </a:r>
            <a:endParaRPr lang="en-US" sz="1150" dirty="0"/>
          </a:p>
        </p:txBody>
      </p:sp>
      <p:sp>
        <p:nvSpPr>
          <p:cNvPr id="9" name="3  Same objective, same difficulty card"/>
          <p:cNvSpPr/>
          <p:nvPr/>
        </p:nvSpPr>
        <p:spPr>
          <a:xfrm>
            <a:off x="548640" y="37947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3  Same objective, same difficulty"/>
          <p:cNvSpPr txBox="1"/>
          <p:nvPr/>
        </p:nvSpPr>
        <p:spPr>
          <a:xfrm>
            <a:off x="713232" y="390448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 Same objective, same difficulty</a:t>
            </a:r>
            <a:endParaRPr lang="en-US" sz="1400" dirty="0"/>
          </a:p>
        </p:txBody>
      </p:sp>
      <p:sp>
        <p:nvSpPr>
          <p:cNvPr id="11" name="3  Same objective, same difficulty text"/>
          <p:cNvSpPr txBox="1"/>
          <p:nvPr/>
        </p:nvSpPr>
        <p:spPr>
          <a:xfrm>
            <a:off x="713232" y="427024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Same question, same number of steps. A 2-step and a 5-step circuit are not isomorphs.</a:t>
            </a:r>
            <a:endParaRPr lang="en-US" sz="1150" dirty="0"/>
          </a:p>
        </p:txBody>
      </p:sp>
      <p:sp>
        <p:nvSpPr>
          <p:cNvPr id="12" name="why it matters"/>
          <p:cNvSpPr txBox="1"/>
          <p:nvPr/>
        </p:nvSpPr>
        <p:spPr>
          <a:xfrm>
            <a:off x="548640" y="512064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Why it matters.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Each student draws one random item for the same exam slot. Below the floor the draw is pointless; above the ceiling it is unfair. Isomorphic is the band where the draw is both meaningful and fair.</a:t>
            </a:r>
            <a:endParaRPr lang="en-US" sz="1250" dirty="0"/>
          </a:p>
        </p:txBody>
      </p:sp>
      <p:sp>
        <p:nvSpPr>
          <p:cNvPr id="13" name="figure heading"/>
          <p:cNvSpPr txBox="1"/>
          <p:nvPr/>
        </p:nvSpPr>
        <p:spPr>
          <a:xfrm>
            <a:off x="6035040" y="1234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Three items from the bank — same question, three different reduction paths</a:t>
            </a:r>
            <a:endParaRPr lang="en-US" sz="1250" dirty="0"/>
          </a:p>
        </p:txBody>
      </p:sp>
      <p:sp>
        <p:nvSpPr>
          <p:cNvPr id="14" name="frame 1"/>
          <p:cNvSpPr/>
          <p:nvPr/>
        </p:nvSpPr>
        <p:spPr>
          <a:xfrm>
            <a:off x="6035040" y="1645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15" name="circuit 1" descr="/Users/myrlaphillippe/Downloads/circuit-bank/circuit-banks/PHY II Electricity and Magnetism/1_DC Circuits/PHY2-DC-SPRTC-10222026/figures/q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08192" y="1719072"/>
            <a:ext cx="1682496" cy="1463040"/>
          </a:xfrm>
          <a:prstGeom prst="rect">
            <a:avLst/>
          </a:prstGeom>
        </p:spPr>
      </p:pic>
      <p:sp>
        <p:nvSpPr>
          <p:cNvPr id="16" name="lingo 1"/>
          <p:cNvSpPr txBox="1"/>
          <p:nvPr/>
        </p:nvSpPr>
        <p:spPr>
          <a:xfrm>
            <a:off x="60350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|| 6 + 4</a:t>
            </a:r>
            <a:endParaRPr lang="en-US" sz="1100" dirty="0"/>
          </a:p>
        </p:txBody>
      </p:sp>
      <p:sp>
        <p:nvSpPr>
          <p:cNvPr id="17" name="note 1"/>
          <p:cNvSpPr txBox="1"/>
          <p:nvPr/>
        </p:nvSpPr>
        <p:spPr>
          <a:xfrm>
            <a:off x="603504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parallel pair, then series</a:t>
            </a:r>
            <a:endParaRPr lang="en-US" sz="1000" dirty="0"/>
          </a:p>
        </p:txBody>
      </p:sp>
      <p:sp>
        <p:nvSpPr>
          <p:cNvPr id="18" name="frame 2"/>
          <p:cNvSpPr/>
          <p:nvPr/>
        </p:nvSpPr>
        <p:spPr>
          <a:xfrm>
            <a:off x="8001000" y="1645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19" name="circuit 2" descr="/Users/myrlaphillippe/Downloads/circuit-bank/circuit-banks/PHY II Electricity and Magnetism/1_DC Circuits/PHY2-DC-SPRTC-10222026/figures/q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4152" y="1719072"/>
            <a:ext cx="1682496" cy="1463040"/>
          </a:xfrm>
          <a:prstGeom prst="rect">
            <a:avLst/>
          </a:prstGeom>
        </p:spPr>
      </p:pic>
      <p:sp>
        <p:nvSpPr>
          <p:cNvPr id="20" name="lingo 2"/>
          <p:cNvSpPr txBox="1"/>
          <p:nvPr/>
        </p:nvSpPr>
        <p:spPr>
          <a:xfrm>
            <a:off x="80010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+ 2) || 6 + 3</a:t>
            </a:r>
            <a:endParaRPr lang="en-US" sz="1100" dirty="0"/>
          </a:p>
        </p:txBody>
      </p:sp>
      <p:sp>
        <p:nvSpPr>
          <p:cNvPr id="21" name="note 2"/>
          <p:cNvSpPr txBox="1"/>
          <p:nvPr/>
        </p:nvSpPr>
        <p:spPr>
          <a:xfrm>
            <a:off x="800100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series pair inside a parallel</a:t>
            </a:r>
            <a:endParaRPr lang="en-US" sz="1000" dirty="0"/>
          </a:p>
        </p:txBody>
      </p:sp>
      <p:sp>
        <p:nvSpPr>
          <p:cNvPr id="22" name="frame 3"/>
          <p:cNvSpPr/>
          <p:nvPr/>
        </p:nvSpPr>
        <p:spPr>
          <a:xfrm>
            <a:off x="9966960" y="1645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23" name="circuit 3" descr="/Users/myrlaphillippe/Downloads/circuit-bank/circuit-banks/PHY II Electricity and Magnetism/1_DC Circuits/PHY2-DC-SPRTC-10222026/figures/q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40112" y="1719072"/>
            <a:ext cx="1682496" cy="1463040"/>
          </a:xfrm>
          <a:prstGeom prst="rect">
            <a:avLst/>
          </a:prstGeom>
        </p:spPr>
      </p:pic>
      <p:sp>
        <p:nvSpPr>
          <p:cNvPr id="24" name="lingo 3"/>
          <p:cNvSpPr txBox="1"/>
          <p:nvPr/>
        </p:nvSpPr>
        <p:spPr>
          <a:xfrm>
            <a:off x="99669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|| 3 || 6 + 4</a:t>
            </a:r>
            <a:endParaRPr lang="en-US" sz="1100" dirty="0"/>
          </a:p>
        </p:txBody>
      </p:sp>
      <p:sp>
        <p:nvSpPr>
          <p:cNvPr id="25" name="note 3"/>
          <p:cNvSpPr txBox="1"/>
          <p:nvPr/>
        </p:nvSpPr>
        <p:spPr>
          <a:xfrm>
            <a:off x="996696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three-way parallel, then series</a:t>
            </a:r>
            <a:endParaRPr lang="en-US" sz="1000" dirty="0"/>
          </a:p>
        </p:txBody>
      </p:sp>
      <p:sp>
        <p:nvSpPr>
          <p:cNvPr id="26" name="guarantees heading"/>
          <p:cNvSpPr txBox="1"/>
          <p:nvPr/>
        </p:nvSpPr>
        <p:spPr>
          <a:xfrm>
            <a:off x="6035040" y="4160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Built with the student in mind</a:t>
            </a:r>
            <a:endParaRPr lang="en-US" sz="1250" dirty="0"/>
          </a:p>
        </p:txBody>
      </p:sp>
      <p:sp>
        <p:nvSpPr>
          <p:cNvPr id="27" name="dot 1"/>
          <p:cNvSpPr/>
          <p:nvPr/>
        </p:nvSpPr>
        <p:spPr>
          <a:xfrm>
            <a:off x="6035040" y="4590288"/>
            <a:ext cx="201168" cy="201168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28" name="guarantee 1"/>
          <p:cNvSpPr txBox="1"/>
          <p:nvPr/>
        </p:nvSpPr>
        <p:spPr>
          <a:xfrm>
            <a:off x="6355080" y="45262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One difficulty per bank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every item reduces in exactly 3 steps</a:t>
            </a:r>
            <a:endParaRPr lang="en-US" sz="1150" dirty="0"/>
          </a:p>
        </p:txBody>
      </p:sp>
      <p:sp>
        <p:nvSpPr>
          <p:cNvPr id="29" name="dot 2"/>
          <p:cNvSpPr/>
          <p:nvPr/>
        </p:nvSpPr>
        <p:spPr>
          <a:xfrm>
            <a:off x="6035040" y="5020056"/>
            <a:ext cx="201168" cy="201168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30" name="guarantee 2"/>
          <p:cNvSpPr txBox="1"/>
          <p:nvPr/>
        </p:nvSpPr>
        <p:spPr>
          <a:xfrm>
            <a:off x="6355080" y="495604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Every item a new path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canonical-shape check: same shape = same problem</a:t>
            </a:r>
            <a:endParaRPr lang="en-US" sz="1150" dirty="0"/>
          </a:p>
        </p:txBody>
      </p:sp>
      <p:sp>
        <p:nvSpPr>
          <p:cNvPr id="31" name="dot 3"/>
          <p:cNvSpPr/>
          <p:nvPr/>
        </p:nvSpPr>
        <p:spPr>
          <a:xfrm>
            <a:off x="6035040" y="5449824"/>
            <a:ext cx="201168" cy="201168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32" name="guarantee 3"/>
          <p:cNvSpPr txBox="1"/>
          <p:nvPr/>
        </p:nvSpPr>
        <p:spPr>
          <a:xfrm>
            <a:off x="6355080" y="538581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Wrong answers are real mistakes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each distractor is computed from one named error</a:t>
            </a:r>
            <a:endParaRPr lang="en-US" sz="1150" dirty="0"/>
          </a:p>
        </p:txBody>
      </p:sp>
      <p:sp>
        <p:nvSpPr>
          <p:cNvPr id="33" name="dot 4"/>
          <p:cNvSpPr/>
          <p:nvPr/>
        </p:nvSpPr>
        <p:spPr>
          <a:xfrm>
            <a:off x="6035040" y="5879592"/>
            <a:ext cx="201168" cy="201168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34" name="guarantee 4"/>
          <p:cNvSpPr txBox="1"/>
          <p:nvPr/>
        </p:nvSpPr>
        <p:spPr>
          <a:xfrm>
            <a:off x="6355080" y="581558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One drawing style, clean arithmetic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only thing that varies is the physics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code works — every number computed, none guessed</a:t>
            </a:r>
            <a:endParaRPr lang="en-US" sz="3200" dirty="0"/>
          </a:p>
        </p:txBody>
      </p:sp>
      <p:sp>
        <p:nvSpPr>
          <p:cNvPr id="3" name="stage 1"/>
          <p:cNvSpPr/>
          <p:nvPr/>
        </p:nvSpPr>
        <p:spPr>
          <a:xfrm>
            <a:off x="548640" y="12344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age title 1"/>
          <p:cNvSpPr txBox="1"/>
          <p:nvPr/>
        </p:nvSpPr>
        <p:spPr>
          <a:xfrm>
            <a:off x="64008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Input scheme</a:t>
            </a:r>
            <a:endParaRPr lang="en-US" sz="1300" dirty="0"/>
          </a:p>
        </p:txBody>
      </p:sp>
      <p:sp>
        <p:nvSpPr>
          <p:cNvPr id="5" name="stage note 1"/>
          <p:cNvSpPr txBox="1"/>
          <p:nvPr/>
        </p:nvSpPr>
        <p:spPr>
          <a:xfrm>
            <a:off x="640080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what circuits,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how many, difficulty</a:t>
            </a:r>
            <a:endParaRPr lang="en-US" sz="1000" dirty="0"/>
          </a:p>
        </p:txBody>
      </p:sp>
      <p:sp>
        <p:nvSpPr>
          <p:cNvPr id="6" name="arrow 1"/>
          <p:cNvSpPr/>
          <p:nvPr/>
        </p:nvSpPr>
        <p:spPr>
          <a:xfrm>
            <a:off x="2267712" y="166878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" name="stage 2"/>
          <p:cNvSpPr/>
          <p:nvPr/>
        </p:nvSpPr>
        <p:spPr>
          <a:xfrm>
            <a:off x="2414016" y="12344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tage title 2"/>
          <p:cNvSpPr txBox="1"/>
          <p:nvPr/>
        </p:nvSpPr>
        <p:spPr>
          <a:xfrm>
            <a:off x="2505456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Chen's loop</a:t>
            </a:r>
            <a:endParaRPr lang="en-US" sz="1300" dirty="0"/>
          </a:p>
        </p:txBody>
      </p:sp>
      <p:sp>
        <p:nvSpPr>
          <p:cNvPr id="9" name="stage note 2"/>
          <p:cNvSpPr txBox="1"/>
          <p:nvPr/>
        </p:nvSpPr>
        <p:spPr>
          <a:xfrm>
            <a:off x="2505456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sidecar: target,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accepted / rejected</a:t>
            </a:r>
            <a:endParaRPr lang="en-US" sz="1000" dirty="0"/>
          </a:p>
        </p:txBody>
      </p:sp>
      <p:sp>
        <p:nvSpPr>
          <p:cNvPr id="10" name="arrow 2"/>
          <p:cNvSpPr/>
          <p:nvPr/>
        </p:nvSpPr>
        <p:spPr>
          <a:xfrm>
            <a:off x="4133088" y="166878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1" name="stage 3"/>
          <p:cNvSpPr/>
          <p:nvPr/>
        </p:nvSpPr>
        <p:spPr>
          <a:xfrm>
            <a:off x="4279392" y="12344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tage title 3"/>
          <p:cNvSpPr txBox="1"/>
          <p:nvPr/>
        </p:nvSpPr>
        <p:spPr>
          <a:xfrm>
            <a:off x="4370832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Enumerate</a:t>
            </a:r>
            <a:endParaRPr lang="en-US" sz="1300" dirty="0"/>
          </a:p>
        </p:txBody>
      </p:sp>
      <p:sp>
        <p:nvSpPr>
          <p:cNvPr id="13" name="stage note 3"/>
          <p:cNvSpPr txBox="1"/>
          <p:nvPr/>
        </p:nvSpPr>
        <p:spPr>
          <a:xfrm>
            <a:off x="4370832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every shape in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band, values by seed</a:t>
            </a:r>
            <a:endParaRPr lang="en-US" sz="1000" dirty="0"/>
          </a:p>
        </p:txBody>
      </p:sp>
      <p:sp>
        <p:nvSpPr>
          <p:cNvPr id="14" name="arrow 3"/>
          <p:cNvSpPr/>
          <p:nvPr/>
        </p:nvSpPr>
        <p:spPr>
          <a:xfrm>
            <a:off x="5998464" y="166878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5" name="stage 4"/>
          <p:cNvSpPr/>
          <p:nvPr/>
        </p:nvSpPr>
        <p:spPr>
          <a:xfrm>
            <a:off x="6144768" y="12344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tage title 4"/>
          <p:cNvSpPr txBox="1"/>
          <p:nvPr/>
        </p:nvSpPr>
        <p:spPr>
          <a:xfrm>
            <a:off x="6236208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Critic (script)</a:t>
            </a:r>
            <a:endParaRPr lang="en-US" sz="1300" dirty="0"/>
          </a:p>
        </p:txBody>
      </p:sp>
      <p:sp>
        <p:nvSpPr>
          <p:cNvPr id="17" name="stage note 4"/>
          <p:cNvSpPr txBox="1"/>
          <p:nvPr/>
        </p:nvSpPr>
        <p:spPr>
          <a:xfrm>
            <a:off x="6236208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parse · solve · shape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· steps · ranges</a:t>
            </a:r>
            <a:endParaRPr lang="en-US" sz="1000" dirty="0"/>
          </a:p>
        </p:txBody>
      </p:sp>
      <p:sp>
        <p:nvSpPr>
          <p:cNvPr id="18" name="arrow 4"/>
          <p:cNvSpPr/>
          <p:nvPr/>
        </p:nvSpPr>
        <p:spPr>
          <a:xfrm>
            <a:off x="7863840" y="166878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9" name="stage 5"/>
          <p:cNvSpPr/>
          <p:nvPr/>
        </p:nvSpPr>
        <p:spPr>
          <a:xfrm>
            <a:off x="8010144" y="12344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tage title 5"/>
          <p:cNvSpPr txBox="1"/>
          <p:nvPr/>
        </p:nvSpPr>
        <p:spPr>
          <a:xfrm>
            <a:off x="8101584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Circuit engine</a:t>
            </a:r>
            <a:endParaRPr lang="en-US" sz="1300" dirty="0"/>
          </a:p>
        </p:txBody>
      </p:sp>
      <p:sp>
        <p:nvSpPr>
          <p:cNvPr id="21" name="stage note 5"/>
          <p:cNvSpPr txBox="1"/>
          <p:nvPr/>
        </p:nvSpPr>
        <p:spPr>
          <a:xfrm>
            <a:off x="8101584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figure, numbers,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worked solution</a:t>
            </a:r>
            <a:endParaRPr lang="en-US" sz="1000" dirty="0"/>
          </a:p>
        </p:txBody>
      </p:sp>
      <p:sp>
        <p:nvSpPr>
          <p:cNvPr id="22" name="arrow 5"/>
          <p:cNvSpPr/>
          <p:nvPr/>
        </p:nvSpPr>
        <p:spPr>
          <a:xfrm>
            <a:off x="9729216" y="166878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3" name="stage 6"/>
          <p:cNvSpPr/>
          <p:nvPr/>
        </p:nvSpPr>
        <p:spPr>
          <a:xfrm>
            <a:off x="9875520" y="12344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tage title 6"/>
          <p:cNvSpPr txBox="1"/>
          <p:nvPr/>
        </p:nvSpPr>
        <p:spPr>
          <a:xfrm>
            <a:off x="996696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Bank + PDF</a:t>
            </a:r>
            <a:endParaRPr lang="en-US" sz="1300" dirty="0"/>
          </a:p>
        </p:txBody>
      </p:sp>
      <p:sp>
        <p:nvSpPr>
          <p:cNvPr id="25" name="stage note 6"/>
          <p:cNvSpPr txBox="1"/>
          <p:nvPr/>
        </p:nvSpPr>
        <p:spPr>
          <a:xfrm>
            <a:off x="9966960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computed distractors;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Chen's template</a:t>
            </a:r>
            <a:endParaRPr lang="en-US" sz="1000" dirty="0"/>
          </a:p>
        </p:txBody>
      </p:sp>
      <p:sp>
        <p:nvSpPr>
          <p:cNvPr id="26" name="legend 1"/>
          <p:cNvSpPr/>
          <p:nvPr/>
        </p:nvSpPr>
        <p:spPr>
          <a:xfrm>
            <a:off x="548640" y="2423160"/>
            <a:ext cx="201168" cy="164592"/>
          </a:xfrm>
          <a:prstGeom prst="rect">
            <a:avLst/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legend text 1"/>
          <p:cNvSpPr txBox="1"/>
          <p:nvPr/>
        </p:nvSpPr>
        <p:spPr>
          <a:xfrm>
            <a:off x="82296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Zhongzhou Chen's method and scripts, used in place</a:t>
            </a:r>
            <a:endParaRPr lang="en-US" sz="1000" dirty="0"/>
          </a:p>
        </p:txBody>
      </p:sp>
      <p:sp>
        <p:nvSpPr>
          <p:cNvPr id="28" name="legend 2"/>
          <p:cNvSpPr/>
          <p:nvPr/>
        </p:nvSpPr>
        <p:spPr>
          <a:xfrm>
            <a:off x="4389120" y="2423160"/>
            <a:ext cx="201168" cy="164592"/>
          </a:xfrm>
          <a:prstGeom prst="rect">
            <a:avLst/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legend text 2"/>
          <p:cNvSpPr txBox="1"/>
          <p:nvPr/>
        </p:nvSpPr>
        <p:spPr>
          <a:xfrm>
            <a:off x="466344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circuit-diagram-skill (deterministic engine)</a:t>
            </a:r>
            <a:endParaRPr lang="en-US" sz="1000" dirty="0"/>
          </a:p>
        </p:txBody>
      </p:sp>
      <p:sp>
        <p:nvSpPr>
          <p:cNvPr id="30" name="legend 3"/>
          <p:cNvSpPr/>
          <p:nvPr/>
        </p:nvSpPr>
        <p:spPr>
          <a:xfrm>
            <a:off x="8229600" y="2423160"/>
            <a:ext cx="201168" cy="164592"/>
          </a:xfrm>
          <a:prstGeom prst="rect">
            <a:avLst/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legend text 3"/>
          <p:cNvSpPr txBox="1"/>
          <p:nvPr/>
        </p:nvSpPr>
        <p:spPr>
          <a:xfrm>
            <a:off x="850392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circuit-bank glue (deterministic)</a:t>
            </a:r>
            <a:endParaRPr lang="en-US" sz="1000" dirty="0"/>
          </a:p>
        </p:txBody>
      </p:sp>
      <p:sp>
        <p:nvSpPr>
          <p:cNvPr id="32" name="stat card 1"/>
          <p:cNvSpPr/>
          <p:nvPr/>
        </p:nvSpPr>
        <p:spPr>
          <a:xfrm>
            <a:off x="548640" y="283464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tat 1"/>
          <p:cNvSpPr txBox="1"/>
          <p:nvPr/>
        </p:nvSpPr>
        <p:spPr>
          <a:xfrm>
            <a:off x="685800" y="2880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34</a:t>
            </a:r>
            <a:endParaRPr lang="en-US" sz="4400" dirty="0"/>
          </a:p>
        </p:txBody>
      </p:sp>
      <p:sp>
        <p:nvSpPr>
          <p:cNvPr id="34" name="stat label 1"/>
          <p:cNvSpPr txBox="1"/>
          <p:nvPr/>
        </p:nvSpPr>
        <p:spPr>
          <a:xfrm>
            <a:off x="1645920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distinct 3-step shapes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with 4–6 resistors</a:t>
            </a:r>
            <a:endParaRPr lang="en-US" sz="1100" dirty="0"/>
          </a:p>
        </p:txBody>
      </p:sp>
      <p:sp>
        <p:nvSpPr>
          <p:cNvPr id="35" name="stat card 2"/>
          <p:cNvSpPr/>
          <p:nvPr/>
        </p:nvSpPr>
        <p:spPr>
          <a:xfrm>
            <a:off x="3364992" y="283464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tat 2"/>
          <p:cNvSpPr txBox="1"/>
          <p:nvPr/>
        </p:nvSpPr>
        <p:spPr>
          <a:xfrm>
            <a:off x="3502152" y="2880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30</a:t>
            </a:r>
            <a:endParaRPr lang="en-US" sz="4400" dirty="0"/>
          </a:p>
        </p:txBody>
      </p:sp>
      <p:sp>
        <p:nvSpPr>
          <p:cNvPr id="37" name="stat label 2"/>
          <p:cNvSpPr txBox="1"/>
          <p:nvPr/>
        </p:nvSpPr>
        <p:spPr>
          <a:xfrm>
            <a:off x="4462272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items in the bank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30 of those 34</a:t>
            </a:r>
            <a:endParaRPr lang="en-US" sz="1100" dirty="0"/>
          </a:p>
        </p:txBody>
      </p:sp>
      <p:sp>
        <p:nvSpPr>
          <p:cNvPr id="38" name="stat card 3"/>
          <p:cNvSpPr/>
          <p:nvPr/>
        </p:nvSpPr>
        <p:spPr>
          <a:xfrm>
            <a:off x="6181344" y="283464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tat 3"/>
          <p:cNvSpPr txBox="1"/>
          <p:nvPr/>
        </p:nvSpPr>
        <p:spPr>
          <a:xfrm>
            <a:off x="6318504" y="2880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</a:t>
            </a:r>
            <a:endParaRPr lang="en-US" sz="4400" dirty="0"/>
          </a:p>
        </p:txBody>
      </p:sp>
      <p:sp>
        <p:nvSpPr>
          <p:cNvPr id="40" name="stat label 3"/>
          <p:cNvSpPr txBox="1"/>
          <p:nvPr/>
        </p:nvSpPr>
        <p:spPr>
          <a:xfrm>
            <a:off x="7278624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rejections, one pass;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LLM anywhere</a:t>
            </a:r>
            <a:endParaRPr lang="en-US" sz="1100" dirty="0"/>
          </a:p>
        </p:txBody>
      </p:sp>
      <p:sp>
        <p:nvSpPr>
          <p:cNvPr id="41" name="stat card 4"/>
          <p:cNvSpPr/>
          <p:nvPr/>
        </p:nvSpPr>
        <p:spPr>
          <a:xfrm>
            <a:off x="8997696" y="283464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tat 4"/>
          <p:cNvSpPr txBox="1"/>
          <p:nvPr/>
        </p:nvSpPr>
        <p:spPr>
          <a:xfrm>
            <a:off x="9134856" y="28803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=</a:t>
            </a:r>
            <a:endParaRPr lang="en-US" sz="4400" dirty="0"/>
          </a:p>
        </p:txBody>
      </p:sp>
      <p:sp>
        <p:nvSpPr>
          <p:cNvPr id="43" name="stat label 4"/>
          <p:cNvSpPr txBox="1"/>
          <p:nvPr/>
        </p:nvSpPr>
        <p:spPr>
          <a:xfrm>
            <a:off x="10094976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input + seed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bank, byte for byte</a:t>
            </a:r>
            <a:endParaRPr lang="en-US" sz="1100" dirty="0"/>
          </a:p>
        </p:txBody>
      </p:sp>
      <p:sp>
        <p:nvSpPr>
          <p:cNvPr id="44" name="item heading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One item, four computed options</a:t>
            </a:r>
            <a:endParaRPr lang="en-US" sz="1250" dirty="0"/>
          </a:p>
        </p:txBody>
      </p:sp>
      <p:sp>
        <p:nvSpPr>
          <p:cNvPr id="45" name="item frame"/>
          <p:cNvSpPr/>
          <p:nvPr/>
        </p:nvSpPr>
        <p:spPr>
          <a:xfrm>
            <a:off x="548640" y="4617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46" name="item figure" descr="/Users/myrlaphillippe/Downloads/circuit-bank/circuit-banks/PHY II Electricity and Magnetism/1_DC Circuits/PHY2-DC-SPRTC-10222026/figures/q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4681728"/>
            <a:ext cx="2231136" cy="1554480"/>
          </a:xfrm>
          <a:prstGeom prst="rect">
            <a:avLst/>
          </a:prstGeom>
        </p:spPr>
      </p:pic>
      <p:sp>
        <p:nvSpPr>
          <p:cNvPr id="47" name="option 1"/>
          <p:cNvSpPr txBox="1"/>
          <p:nvPr/>
        </p:nvSpPr>
        <p:spPr>
          <a:xfrm>
            <a:off x="3063240" y="4617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 A  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adds all resistors in series</a:t>
            </a:r>
            <a:endParaRPr lang="en-US" sz="1100" dirty="0"/>
          </a:p>
        </p:txBody>
      </p:sp>
      <p:sp>
        <p:nvSpPr>
          <p:cNvPr id="48" name="option 2"/>
          <p:cNvSpPr txBox="1"/>
          <p:nvPr/>
        </p:nvSpPr>
        <p:spPr>
          <a:xfrm>
            <a:off x="3063240" y="50383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2.67 A  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sums reciprocals, forgets to invert</a:t>
            </a:r>
            <a:endParaRPr lang="en-US" sz="1100" dirty="0"/>
          </a:p>
        </p:txBody>
      </p:sp>
      <p:sp>
        <p:nvSpPr>
          <p:cNvPr id="49" name="option 3"/>
          <p:cNvSpPr txBox="1"/>
          <p:nvPr/>
        </p:nvSpPr>
        <p:spPr>
          <a:xfrm>
            <a:off x="3063240" y="5458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1.33 A  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reports one branch current</a:t>
            </a:r>
            <a:endParaRPr lang="en-US" sz="1100" dirty="0"/>
          </a:p>
        </p:txBody>
      </p:sp>
      <p:sp>
        <p:nvSpPr>
          <p:cNvPr id="50" name="option 4"/>
          <p:cNvSpPr txBox="1"/>
          <p:nvPr/>
        </p:nvSpPr>
        <p:spPr>
          <a:xfrm>
            <a:off x="3063240" y="58795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 A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correct: 3 ‖ 6 = 2 Ω; + 4 = 6 Ω; 12 / 6</a:t>
            </a:r>
            <a:endParaRPr lang="en-US" sz="1100" dirty="0"/>
          </a:p>
        </p:txBody>
      </p:sp>
      <p:sp>
        <p:nvSpPr>
          <p:cNvPr id="51" name="critic heading"/>
          <p:cNvSpPr txBox="1"/>
          <p:nvPr/>
        </p:nvSpPr>
        <p:spPr>
          <a:xfrm>
            <a:off x="6355080" y="4251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What the critic rejects (reasons written to Chen's sidecar)</a:t>
            </a:r>
            <a:endParaRPr lang="en-US" sz="1250" dirty="0"/>
          </a:p>
        </p:txBody>
      </p:sp>
      <p:sp>
        <p:nvSpPr>
          <p:cNvPr id="52" name="rdot 1"/>
          <p:cNvSpPr/>
          <p:nvPr/>
        </p:nvSpPr>
        <p:spPr>
          <a:xfrm>
            <a:off x="6355080" y="470916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53" name="reason 1"/>
          <p:cNvSpPr txBox="1"/>
          <p:nvPr/>
        </p:nvSpPr>
        <p:spPr>
          <a:xfrm>
            <a:off x="6675120" y="46177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does not parse / solve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“The circuit line ends too early…”</a:t>
            </a:r>
            <a:endParaRPr lang="en-US" sz="1100" dirty="0"/>
          </a:p>
        </p:txBody>
      </p:sp>
      <p:sp>
        <p:nvSpPr>
          <p:cNvPr id="54" name="rdot 2"/>
          <p:cNvSpPr/>
          <p:nvPr/>
        </p:nvSpPr>
        <p:spPr>
          <a:xfrm>
            <a:off x="6355080" y="5129784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55" name="reason 2"/>
          <p:cNvSpPr txBox="1"/>
          <p:nvPr/>
        </p:nvSpPr>
        <p:spPr>
          <a:xfrm>
            <a:off x="6675120" y="503834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same canonical shape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|| 3 + 4 and 2 || 4 + 5 ≡ 3 || 6 + 4</a:t>
            </a:r>
            <a:endParaRPr lang="en-US" sz="1100" dirty="0"/>
          </a:p>
        </p:txBody>
      </p:sp>
      <p:sp>
        <p:nvSpPr>
          <p:cNvPr id="56" name="rdot 3"/>
          <p:cNvSpPr/>
          <p:nvPr/>
        </p:nvSpPr>
        <p:spPr>
          <a:xfrm>
            <a:off x="6355080" y="5550408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57" name="reason 3"/>
          <p:cNvSpPr txBox="1"/>
          <p:nvPr/>
        </p:nvSpPr>
        <p:spPr>
          <a:xfrm>
            <a:off x="6675120" y="545896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value out of range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“R1 = 50 Ω is outside resistor_range [1, 24]”</a:t>
            </a:r>
            <a:endParaRPr lang="en-US" sz="1100" dirty="0"/>
          </a:p>
        </p:txBody>
      </p:sp>
      <p:sp>
        <p:nvSpPr>
          <p:cNvPr id="58" name="rdot 4"/>
          <p:cNvSpPr/>
          <p:nvPr/>
        </p:nvSpPr>
        <p:spPr>
          <a:xfrm>
            <a:off x="6355080" y="5971032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59" name="reason 4"/>
          <p:cNvSpPr txBox="1"/>
          <p:nvPr/>
        </p:nvSpPr>
        <p:spPr>
          <a:xfrm>
            <a:off x="6675120" y="58795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wrong difficulty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“5 reduction steps; this bank wants 3”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rcuit bank">
  <a:themeElements>
    <a:clrScheme name="Circuit bank">
      <a:dk1>
        <a:srgbClr val="1E1E1E"/>
      </a:dk1>
      <a:lt1>
        <a:srgbClr val="FFFFFF"/>
      </a:lt1>
      <a:dk2>
        <a:srgbClr val="2F4858"/>
      </a:dk2>
      <a:lt2>
        <a:srgbClr val="F3EFEA"/>
      </a:lt2>
      <a:accent1>
        <a:srgbClr val="8A2A1B"/>
      </a:accent1>
      <a:accent2>
        <a:srgbClr val="2F4858"/>
      </a:accent2>
      <a:accent3>
        <a:srgbClr val="C9A66B"/>
      </a:accent3>
      <a:accent4>
        <a:srgbClr val="DCE6EE"/>
      </a:accent4>
      <a:accent5>
        <a:srgbClr val="E2EEDC"/>
      </a:accent5>
      <a:accent6>
        <a:srgbClr val="F7E3D4"/>
      </a:accent6>
      <a:hlink>
        <a:srgbClr val="8A2A1B"/>
      </a:hlink>
      <a:folHlink>
        <a:srgbClr val="2F4858"/>
      </a:folHlink>
    </a:clrScheme>
    <a:fontScheme name="Circuit ba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circuit bank in two slides</dc:title>
  <dc:subject>PptxGenJS Presentation</dc:subject>
  <dc:creator>Myrla Phillippe</dc:creator>
  <cp:lastModifiedBy>Myrla Phillippe</cp:lastModifiedBy>
  <cp:revision>1</cp:revision>
  <dcterms:created xsi:type="dcterms:W3CDTF">2026-10-24T02:30:49Z</dcterms:created>
  <dcterms:modified xsi:type="dcterms:W3CDTF">2026-10-24T02:30:49Z</dcterms:modified>
</cp:coreProperties>
</file>